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Georgia" panose="02040502050405020303" pitchFamily="18" charset="0"/>
      <p:regular r:id="rId45"/>
      <p:bold r:id="rId46"/>
      <p:italic r:id="rId47"/>
      <p:boldItalic r:id="rId48"/>
    </p:embeddedFont>
    <p:embeddedFont>
      <p:font typeface="Roboto Mono" panose="00000009000000000000" pitchFamily="49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9" name="Google Shape;149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129827b6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7129827b65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7129827b65_1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7129827b65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129827b65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7129827b65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7129827b65_1_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7129827b65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f891f9368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6f891f9368_1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6f891f9368_1_10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6f891f9368_1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f891f9368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6f891f9368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6f891f9368_1_5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6f891f9368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f891f9368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36f891f9368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6f891f9368_1_3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6f891f9368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f891f9368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6f891f9368_1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6f891f9368_1_6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6f891f9368_1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17269f7d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3717269f7d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717269f7dd_0_1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717269f7dd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17269f7d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717269f7dd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717269f7dd_0_3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717269f7dd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f891f9368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6f891f9368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6f891f9368_1_23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6f891f9368_1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f891f9368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6f891f9368_1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6f891f9368_1_7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6f891f9368_1_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f891f936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6f891f9368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6f891f9368_0_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6f891f9368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f891f936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36f891f9368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6f891f9368_0_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6f891f9368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f891f936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g36f891f9368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6f891f9368_0_1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6f891f9368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f891f936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g36f891f9368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6f891f9368_0_4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6f891f9368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f891f936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36f891f9368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6f891f9368_0_5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6f891f9368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17269f7d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3717269f7dd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717269f7dd_0_5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717269f7dd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17269f7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717269f7d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717269f7dd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717269f7d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f891f936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36f891f9368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36f891f9368_0_6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36f891f9368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f891f9368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36f891f9368_1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6f891f9368_1_22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6f891f9368_1_2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f891f9368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36f891f9368_1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6f891f9368_1_16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36f891f9368_1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f891f9368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36f891f9368_1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6f891f9368_1_15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g36f891f9368_1_1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6f891f9368_1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g36f891f9368_1_1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36f891f9368_1_17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g36f891f9368_1_1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f891f9368_1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36f891f9368_1_1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36f891f9368_1_18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36f891f9368_1_1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717269f7d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3717269f7dd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717269f7dd_0_7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3717269f7dd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717269f7d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g3717269f7dd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g3717269f7dd_0_10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717269f7dd_0_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717269f7dd_4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g3717269f7dd_4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3717269f7dd_4_1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3717269f7dd_4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717269f7d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3717269f7dd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3717269f7dd_0_8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3717269f7dd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717269f7dd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g3717269f7dd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g3717269f7dd_0_12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3717269f7dd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17269f7dd_4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3717269f7dd_4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3717269f7dd_4_3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g3717269f7dd_4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17269f7dd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g3717269f7dd_2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3717269f7dd_2_11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g3717269f7dd_2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717269f7dd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g3717269f7dd_2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g3717269f7dd_2_3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3717269f7dd_2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717269f7dd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g3717269f7dd_2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g3717269f7dd_2_4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3717269f7dd_2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717269f7dd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g3717269f7dd_2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g3717269f7dd_2_6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3717269f7dd_2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717269f7dd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g3717269f7dd_2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g3717269f7dd_2_7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g3717269f7dd_2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17269f7dd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8" name="Google Shape;618;g3717269f7dd_2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g3717269f7dd_2_2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3717269f7dd_2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717269f7dd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g3717269f7dd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g3717269f7dd_2_8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717269f7dd_2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17269f7dd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4" name="Google Shape;644;g3717269f7dd_2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g3717269f7dd_2_10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g3717269f7dd_2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6f891f9368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7" name="Google Shape;657;g36f891f9368_1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g36f891f9368_1_8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g36f891f9368_1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6f891f9368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g36f891f9368_1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36f891f9368_1_11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36f891f9368_1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6f891f9368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g36f891f9368_1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36f891f9368_1_12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g36f891f9368_1_1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f891f9368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" name="Google Shape;696;g36f891f9368_2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36f891f9368_2_1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g36f891f9368_2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ight - Title with Abstract Border">
  <p:cSld name="Light - Title with Abstract Border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1018030" y="4706392"/>
            <a:ext cx="5077970" cy="89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1018030" y="4368799"/>
            <a:ext cx="5077970" cy="2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3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>
                <a:solidFill>
                  <a:schemeClr val="accent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018030" y="2459230"/>
            <a:ext cx="1015898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  <a:defRPr sz="4000" b="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761999" y="587874"/>
                </a:moveTo>
                <a:lnTo>
                  <a:pt x="761999" y="6270127"/>
                </a:lnTo>
                <a:lnTo>
                  <a:pt x="11430000" y="6270127"/>
                </a:lnTo>
                <a:lnTo>
                  <a:pt x="11430000" y="58787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83112" y="6355080"/>
            <a:ext cx="502920" cy="5029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2"/>
          <p:cNvCxnSpPr/>
          <p:nvPr/>
        </p:nvCxnSpPr>
        <p:spPr>
          <a:xfrm rot="10800000">
            <a:off x="1018030" y="4114800"/>
            <a:ext cx="32004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2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949" y="1132368"/>
            <a:ext cx="1524893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- Numbered Outline 2 Column">
  <p:cSld name="Light - Numbered Outline 2 Column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62000" y="1609724"/>
            <a:ext cx="5084064" cy="450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4520"/>
              </a:buClr>
              <a:buSzPts val="2800"/>
              <a:buFont typeface="Calibri"/>
              <a:buAutoNum type="arabicPeriod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6364986" y="1609724"/>
            <a:ext cx="5084064" cy="450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4520"/>
              </a:buClr>
              <a:buSzPts val="2800"/>
              <a:buFont typeface="Calibri"/>
              <a:buAutoNum type="arabicPeriod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Light - Title with Abstract Border">
  <p:cSld name="1_Light - Title with Abstract Border">
    <p:bg>
      <p:bgPr>
        <a:solidFill>
          <a:schemeClr val="lt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761999" y="587874"/>
                </a:moveTo>
                <a:lnTo>
                  <a:pt x="761999" y="6270127"/>
                </a:lnTo>
                <a:lnTo>
                  <a:pt x="11430000" y="6270127"/>
                </a:lnTo>
                <a:lnTo>
                  <a:pt x="11430000" y="58787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83112" y="6355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1018030" y="4706392"/>
            <a:ext cx="5077970" cy="89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2"/>
          </p:nvPr>
        </p:nvSpPr>
        <p:spPr>
          <a:xfrm>
            <a:off x="1018030" y="4368799"/>
            <a:ext cx="5077970" cy="2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15"/>
          <p:cNvCxnSpPr/>
          <p:nvPr/>
        </p:nvCxnSpPr>
        <p:spPr>
          <a:xfrm rot="10800000">
            <a:off x="1018030" y="4114800"/>
            <a:ext cx="32004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15"/>
          <p:cNvSpPr txBox="1">
            <a:spLocks noGrp="1"/>
          </p:cNvSpPr>
          <p:nvPr>
            <p:ph type="body" idx="3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>
                <a:solidFill>
                  <a:schemeClr val="accent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ctrTitle"/>
          </p:nvPr>
        </p:nvSpPr>
        <p:spPr>
          <a:xfrm>
            <a:off x="1018030" y="2459230"/>
            <a:ext cx="1015898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  <a:defRPr sz="4000" b="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949" y="1132368"/>
            <a:ext cx="1524893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Light - Numbered Outline">
  <p:cSld name="1_Light - Numbered Outline">
    <p:bg>
      <p:bgPr>
        <a:solidFill>
          <a:schemeClr val="l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 amt="80000"/>
          </a:blip>
          <a:srcRect r="48609"/>
          <a:stretch/>
        </p:blipFill>
        <p:spPr>
          <a:xfrm>
            <a:off x="9881411" y="521208"/>
            <a:ext cx="2310589" cy="1700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83112" y="6355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B858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762000" y="64236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768095" y="3916426"/>
            <a:ext cx="43995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2"/>
          </p:nvPr>
        </p:nvSpPr>
        <p:spPr>
          <a:xfrm>
            <a:off x="768095" y="3397254"/>
            <a:ext cx="43995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3"/>
          </p:nvPr>
        </p:nvSpPr>
        <p:spPr>
          <a:xfrm>
            <a:off x="768095" y="2878080"/>
            <a:ext cx="43995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4"/>
          </p:nvPr>
        </p:nvSpPr>
        <p:spPr>
          <a:xfrm>
            <a:off x="768095" y="2358906"/>
            <a:ext cx="43995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5"/>
          </p:nvPr>
        </p:nvSpPr>
        <p:spPr>
          <a:xfrm>
            <a:off x="768095" y="1839732"/>
            <a:ext cx="43995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6"/>
          </p:nvPr>
        </p:nvSpPr>
        <p:spPr>
          <a:xfrm>
            <a:off x="1371411" y="3916426"/>
            <a:ext cx="1005249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7"/>
          </p:nvPr>
        </p:nvSpPr>
        <p:spPr>
          <a:xfrm>
            <a:off x="1371411" y="3397229"/>
            <a:ext cx="1005249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8"/>
          </p:nvPr>
        </p:nvSpPr>
        <p:spPr>
          <a:xfrm>
            <a:off x="1371411" y="2878032"/>
            <a:ext cx="1005249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9"/>
          </p:nvPr>
        </p:nvSpPr>
        <p:spPr>
          <a:xfrm>
            <a:off x="1371411" y="2358835"/>
            <a:ext cx="1005249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3"/>
          </p:nvPr>
        </p:nvSpPr>
        <p:spPr>
          <a:xfrm>
            <a:off x="1371411" y="1839638"/>
            <a:ext cx="10052493" cy="3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 b="0" i="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125" name="Google Shape;125;p16"/>
          <p:cNvCxnSpPr/>
          <p:nvPr/>
        </p:nvCxnSpPr>
        <p:spPr>
          <a:xfrm rot="10800000">
            <a:off x="768095" y="1584959"/>
            <a:ext cx="32004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" name="Google Shape;126;p16"/>
          <p:cNvSpPr txBox="1">
            <a:spLocks noGrp="1"/>
          </p:cNvSpPr>
          <p:nvPr>
            <p:ph type="body" idx="14"/>
          </p:nvPr>
        </p:nvSpPr>
        <p:spPr>
          <a:xfrm>
            <a:off x="762000" y="508000"/>
            <a:ext cx="1067104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Light - Title Only">
  <p:cSld name="1_Light - Title Only">
    <p:bg>
      <p:bgPr>
        <a:solidFill>
          <a:schemeClr val="lt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 amt="80000"/>
          </a:blip>
          <a:srcRect r="48609"/>
          <a:stretch/>
        </p:blipFill>
        <p:spPr>
          <a:xfrm>
            <a:off x="9881411" y="521208"/>
            <a:ext cx="2310589" cy="1700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83112" y="6355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B858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762000" y="64236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7"/>
          <p:cNvCxnSpPr/>
          <p:nvPr/>
        </p:nvCxnSpPr>
        <p:spPr>
          <a:xfrm rot="10800000">
            <a:off x="768095" y="1584959"/>
            <a:ext cx="32004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" name="Google Shape;134;p17"/>
          <p:cNvSpPr txBox="1">
            <a:spLocks noGrp="1"/>
          </p:cNvSpPr>
          <p:nvPr>
            <p:ph type="body" idx="1"/>
          </p:nvPr>
        </p:nvSpPr>
        <p:spPr>
          <a:xfrm>
            <a:off x="762000" y="508000"/>
            <a:ext cx="1067104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Light - Thank You">
  <p:cSld name="1_Light - Thank You">
    <p:bg>
      <p:bgPr>
        <a:solidFill>
          <a:schemeClr val="lt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4898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83112" y="6355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ftr" idx="11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B858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762000" y="64236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000">
                <a:solidFill>
                  <a:srgbClr val="8B858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762000" y="5152453"/>
            <a:ext cx="5029200" cy="89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762000" y="4814860"/>
            <a:ext cx="5029200" cy="2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3" name="Google Shape;143;p18"/>
          <p:cNvCxnSpPr/>
          <p:nvPr/>
        </p:nvCxnSpPr>
        <p:spPr>
          <a:xfrm rot="10800000">
            <a:off x="768098" y="4561089"/>
            <a:ext cx="32004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18"/>
          <p:cNvSpPr txBox="1">
            <a:spLocks noGrp="1"/>
          </p:cNvSpPr>
          <p:nvPr>
            <p:ph type="body" idx="3"/>
          </p:nvPr>
        </p:nvSpPr>
        <p:spPr>
          <a:xfrm>
            <a:off x="762001" y="3814489"/>
            <a:ext cx="50292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762000" y="6057900"/>
            <a:ext cx="2346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8B8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>
            <a:spLocks noGrp="1"/>
          </p:cNvSpPr>
          <p:nvPr>
            <p:ph type="body" idx="1"/>
          </p:nvPr>
        </p:nvSpPr>
        <p:spPr>
          <a:xfrm>
            <a:off x="-1691716" y="3995509"/>
            <a:ext cx="5077970" cy="147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1016550" y="3366038"/>
            <a:ext cx="10158900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Anjana J Nair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John Philip George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Nimish Shandilya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Sivadath K M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Sreni Saji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25th July 2025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Details  -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Banking consulting batch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9"/>
          <p:cNvSpPr txBox="1">
            <a:spLocks noGrp="1"/>
          </p:cNvSpPr>
          <p:nvPr>
            <p:ph type="ctrTitle"/>
          </p:nvPr>
        </p:nvSpPr>
        <p:spPr>
          <a:xfrm>
            <a:off x="887246" y="1589909"/>
            <a:ext cx="104175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Asset Liability Management System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xfrm>
            <a:off x="-1392044" y="136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1"/>
          </p:nvPr>
        </p:nvSpPr>
        <p:spPr>
          <a:xfrm>
            <a:off x="1067700" y="697725"/>
            <a:ext cx="7542900" cy="14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6" name="Google Shape;166;p20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090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1464400" y="1755300"/>
            <a:ext cx="45441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level architecture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Components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by step process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snippets and output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Learnings and takeaways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>
            <a:spLocks noGrp="1"/>
          </p:cNvSpPr>
          <p:nvPr>
            <p:ph type="title"/>
          </p:nvPr>
        </p:nvSpPr>
        <p:spPr>
          <a:xfrm>
            <a:off x="-1392044" y="136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body" idx="1"/>
          </p:nvPr>
        </p:nvSpPr>
        <p:spPr>
          <a:xfrm>
            <a:off x="502200" y="1096250"/>
            <a:ext cx="10515600" cy="5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83C4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 b="1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liability management is the process of managing the use of assets and cash flows to reduce the firm’s risk of loss from not paying a liability on time</a:t>
            </a:r>
            <a:endParaRPr sz="2400" b="1">
              <a:solidFill>
                <a:srgbClr val="183C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Well-managed assets and liabilities increase business profits.</a:t>
            </a:r>
            <a:endParaRPr sz="2400">
              <a:solidFill>
                <a:srgbClr val="183C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institutions must balance liquidity and minimize risk while complying with regulatory standards</a:t>
            </a:r>
            <a:endParaRPr sz="2400">
              <a:solidFill>
                <a:srgbClr val="183C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tracking of assets &amp; liabilities is slow and error-prone </a:t>
            </a:r>
            <a:endParaRPr sz="2400">
              <a:solidFill>
                <a:srgbClr val="183C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integrated systems can lead to financial mismatches and missed optimization opportunities</a:t>
            </a:r>
            <a:endParaRPr sz="2400">
              <a:solidFill>
                <a:srgbClr val="183C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7275" y="136525"/>
            <a:ext cx="1362525" cy="16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-1392044" y="136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502200" y="959425"/>
            <a:ext cx="10515600" cy="57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/>
          </a:p>
          <a:p>
            <a:pPr lvl="0" indent="-381000">
              <a:lnSpc>
                <a:spcPct val="100000"/>
              </a:lnSpc>
              <a:spcBef>
                <a:spcPts val="0"/>
              </a:spcBef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rich and interactive dashboard utilizing data visualization techniques for useful insights.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 decision making through data-driven ad-hoc reports.</a:t>
            </a:r>
            <a:endParaRPr sz="2400" dirty="0">
              <a:solidFill>
                <a:srgbClr val="183C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rgbClr val="183C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 operational efficiency by eliminating redundant manual processes</a:t>
            </a:r>
            <a:endParaRPr sz="2400" dirty="0">
              <a:solidFill>
                <a:srgbClr val="183C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400" dirty="0">
              <a:solidFill>
                <a:srgbClr val="183C4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6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4" name="Google Shape;194;p22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>
            <a:spLocks noGrp="1"/>
          </p:cNvSpPr>
          <p:nvPr>
            <p:ph type="body" idx="1"/>
          </p:nvPr>
        </p:nvSpPr>
        <p:spPr>
          <a:xfrm>
            <a:off x="910375" y="921900"/>
            <a:ext cx="10515600" cy="59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 Spring Boot 3.5.3 &amp; RESTful APIs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 OJET V 18, Knockout JS &amp; Require JS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 MySQL 8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Data interchange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 JSON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Build Tools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 Maven 3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Postman,Swagger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Version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 Git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600"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05" name="Google Shape;20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07" name="Google Shape;207;p23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>
            <a:spLocks noGrp="1"/>
          </p:cNvSpPr>
          <p:nvPr>
            <p:ph type="body" idx="1"/>
          </p:nvPr>
        </p:nvSpPr>
        <p:spPr>
          <a:xfrm>
            <a:off x="502200" y="239200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High Level Architecture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4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18" name="Google Shape;21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0" name="Google Shape;220;p24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069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 title="Spring Boot Architectu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2013" y="1460525"/>
            <a:ext cx="8096213" cy="53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3029525" y="1891075"/>
            <a:ext cx="14364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rPr>
              <a:t>OJET</a:t>
            </a:r>
            <a:endParaRPr sz="4200">
              <a:solidFill>
                <a:schemeClr val="dk1"/>
              </a:solidFill>
              <a:highlight>
                <a:schemeClr val="accen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>
            <a:spLocks noGrp="1"/>
          </p:cNvSpPr>
          <p:nvPr>
            <p:ph type="body" idx="1"/>
          </p:nvPr>
        </p:nvSpPr>
        <p:spPr>
          <a:xfrm>
            <a:off x="602800" y="641400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High level architecture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endParaRPr sz="24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endParaRPr sz="24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Spring boot consists of many layers/components, each of them handling a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different operation needed for the functioning of the backend. These are the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various layers of the Spring Boot architecture used in our case study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1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7272"/>
              <a:buFont typeface="Times New Roman"/>
              <a:buChar char="•"/>
            </a:pPr>
            <a:r>
              <a:rPr lang="en-US" sz="2750" b="1" dirty="0">
                <a:latin typeface="Times New Roman"/>
                <a:ea typeface="Times New Roman"/>
                <a:cs typeface="Times New Roman"/>
                <a:sym typeface="Times New Roman"/>
              </a:rPr>
              <a:t>Controller</a:t>
            </a:r>
            <a:r>
              <a:rPr lang="en-US" sz="275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Used to make API calls to the frontend and backend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64285"/>
              <a:buFont typeface="Times New Roman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Service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Service contains the core business logic that is needed for the system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64285"/>
              <a:buFont typeface="Times New Roman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DTO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Transfer business data from service layer to UI layer.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64285"/>
              <a:buFont typeface="Times New Roman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Repository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Performs CRUD operations for business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entitities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64285"/>
              <a:buFont typeface="Times New Roman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Entities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Business entity classes having attributes mapped with business processes of the ALM system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5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32" name="Google Shape;232;p25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5" name="Google Shape;235;p25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236" name="Google Shape;2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44" name="Google Shape;244;p26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45" name="Google Shape;24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7" name="Google Shape;247;p26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248" name="Google Shape;2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863675" y="432000"/>
            <a:ext cx="5742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Points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502200" y="1755300"/>
            <a:ext cx="9827700" cy="48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Computes total rate sensitive assets and liabilities and returns the gap.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= RSA - RSL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Interest Margin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Computes NIM for the given period.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NIM = (Interest Income - Interest Expense) / Average Earning Assets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 Gap Analysis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Calculates the duration gap on the given date.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 Gap = Duration of Assets - ( Duration of Liabilities * (Liabilities/Assets) 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58" name="Google Shape;258;p27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59" name="Google Shape;25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1" name="Google Shape;261;p27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262" name="Google Shape;2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695975" y="432000"/>
            <a:ext cx="5742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Points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502200" y="1716775"/>
            <a:ext cx="10385400" cy="48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at Risk (VaR)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Computes portfolio VaR for the given date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= Z × σ × √t × Portfolio Value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ono"/>
              <a:buChar char="●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Liquidity Gap Analysis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liquidity gap for a specific time bucket as well as for all time buckets.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Liquidity Gap = Maturing Assets − Maturing Liabilities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ono"/>
              <a:buChar char="●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Coverage Ratio: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Calculates asset coverage ratio for a date.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Coverage Ratio = ((BVTA − IA) − (CL − STDO)) / Total Debt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>
            <a:spLocks noGrp="1"/>
          </p:cNvSpPr>
          <p:nvPr>
            <p:ph type="body" idx="1"/>
          </p:nvPr>
        </p:nvSpPr>
        <p:spPr>
          <a:xfrm>
            <a:off x="502200" y="413225"/>
            <a:ext cx="10261200" cy="5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Key Components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endParaRPr sz="2400" b="1"/>
          </a:p>
          <a:p>
            <a:pPr marL="457200" lvl="0" indent="-3695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Portfolio dashboard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summarizing key ALM metrics like liquidity gaps,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net interest margin, rate sensitive asset, asset-liability mismatches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95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Drill down views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95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Asset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&amp; liability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breakdowns by product type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95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eg: loans, securities, deposits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432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Filtering by maturity, currency buckets and counterparty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95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Backend architecture and infrastructure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95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Eureka server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95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Actuator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95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Aspect Oriented Programming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95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Frontend UI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95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Rich graphical UI for dashboard and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95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Microservices architecture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956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Modular services for API management, business logic and data persistence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432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Decoupled service endpoints for scalability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73" name="Google Shape;273;p28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6" name="Google Shape;276;p28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277" name="Google Shape;27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86" name="Google Shape;286;p29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289" name="Google Shape;2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694800"/>
            <a:ext cx="10515600" cy="602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157650" y="43925"/>
            <a:ext cx="45939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E-R Diagram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00" name="Google Shape;30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0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5" y="1015200"/>
            <a:ext cx="12192002" cy="5591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157650" y="0"/>
            <a:ext cx="4856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Diagram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1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312" name="Google Shape;312;p31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13" name="Google Shape;31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1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315" name="Google Shape;315;p31"/>
          <p:cNvSpPr txBox="1"/>
          <p:nvPr/>
        </p:nvSpPr>
        <p:spPr>
          <a:xfrm rot="-5400000">
            <a:off x="-2560775" y="2156600"/>
            <a:ext cx="6813300" cy="10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350" y="0"/>
            <a:ext cx="721485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325" name="Google Shape;325;p32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328" name="Google Shape;3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4600" y="825475"/>
            <a:ext cx="569975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 txBox="1"/>
          <p:nvPr/>
        </p:nvSpPr>
        <p:spPr>
          <a:xfrm>
            <a:off x="157650" y="0"/>
            <a:ext cx="62673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3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338" name="Google Shape;338;p33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39" name="Google Shape;33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3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341" name="Google Shape;34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6" y="43927"/>
            <a:ext cx="6646725" cy="349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4824" y="3429003"/>
            <a:ext cx="6969199" cy="368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3"/>
          <p:cNvSpPr txBox="1"/>
          <p:nvPr/>
        </p:nvSpPr>
        <p:spPr>
          <a:xfrm>
            <a:off x="7506950" y="413225"/>
            <a:ext cx="4967400" cy="2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 operational metrics gathering using Spring Boot actuator and analysis using code-centric Admin Server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4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53" name="Google Shape;35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4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592600" y="0"/>
            <a:ext cx="11335000" cy="1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API Specification documentation for Rest Endpoints using Swagger</a:t>
            </a:r>
            <a:endParaRPr sz="3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7" name="Google Shape;35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400" y="1083450"/>
            <a:ext cx="5729524" cy="50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7200" y="1083450"/>
            <a:ext cx="6137202" cy="51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5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367" name="Google Shape;367;p35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370" name="Google Shape;370;p35"/>
          <p:cNvSpPr txBox="1"/>
          <p:nvPr/>
        </p:nvSpPr>
        <p:spPr>
          <a:xfrm>
            <a:off x="592600" y="0"/>
            <a:ext cx="9389600" cy="1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of Endpoint</a:t>
            </a:r>
            <a:endParaRPr sz="4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125" y="1405500"/>
            <a:ext cx="10386175" cy="456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 txBox="1">
            <a:spLocks noGrp="1"/>
          </p:cNvSpPr>
          <p:nvPr>
            <p:ph type="body" idx="1"/>
          </p:nvPr>
        </p:nvSpPr>
        <p:spPr>
          <a:xfrm>
            <a:off x="157650" y="22277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6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381" name="Google Shape;381;p36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82" name="Google Shape;38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6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384" name="Google Shape;38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9600" y="1050450"/>
            <a:ext cx="9130851" cy="53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6"/>
          <p:cNvSpPr txBox="1"/>
          <p:nvPr/>
        </p:nvSpPr>
        <p:spPr>
          <a:xfrm>
            <a:off x="75175" y="43925"/>
            <a:ext cx="118455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Discovery Using Eureka Server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body" idx="1"/>
          </p:nvPr>
        </p:nvSpPr>
        <p:spPr>
          <a:xfrm>
            <a:off x="75175" y="132800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7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394" name="Google Shape;394;p37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95" name="Google Shape;39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397" name="Google Shape;39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650" y="1307075"/>
            <a:ext cx="10999026" cy="555092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7"/>
          <p:cNvSpPr txBox="1"/>
          <p:nvPr/>
        </p:nvSpPr>
        <p:spPr>
          <a:xfrm>
            <a:off x="502200" y="132800"/>
            <a:ext cx="43314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POSTMAN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4897000" y="506775"/>
            <a:ext cx="55029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testing API endpoints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"/>
          <p:cNvSpPr txBox="1">
            <a:spLocks noGrp="1"/>
          </p:cNvSpPr>
          <p:nvPr>
            <p:ph type="body" idx="1"/>
          </p:nvPr>
        </p:nvSpPr>
        <p:spPr>
          <a:xfrm>
            <a:off x="502200" y="239200"/>
            <a:ext cx="10515600" cy="59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Static Code Analysis Tools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These are the static code analysis tools that we used. Plugins for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these tools were mentioned in the pom.xml file and different goals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were given for each tool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PMD: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Checks for any unused imported packages and methods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Checkstyle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Checks if the entire codebase is following std naming conventions and styles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Spotbugs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Spots any bugs that occurred during development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8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408" name="Google Shape;408;p38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409" name="Google Shape;40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1" name="Google Shape;411;p38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412" name="Google Shape;41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090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 txBox="1">
            <a:spLocks noGrp="1"/>
          </p:cNvSpPr>
          <p:nvPr>
            <p:ph type="body" idx="1"/>
          </p:nvPr>
        </p:nvSpPr>
        <p:spPr>
          <a:xfrm>
            <a:off x="174325" y="132800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9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421" name="Google Shape;421;p39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422" name="Google Shape;42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424" name="Google Shape;424;p39"/>
          <p:cNvSpPr txBox="1"/>
          <p:nvPr/>
        </p:nvSpPr>
        <p:spPr>
          <a:xfrm>
            <a:off x="502200" y="132800"/>
            <a:ext cx="62622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PMD</a:t>
            </a:r>
            <a:endParaRPr sz="4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5" name="Google Shape;425;p39" title="pmd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04950"/>
            <a:ext cx="121920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 txBox="1">
            <a:spLocks noGrp="1"/>
          </p:cNvSpPr>
          <p:nvPr>
            <p:ph type="body" idx="1"/>
          </p:nvPr>
        </p:nvSpPr>
        <p:spPr>
          <a:xfrm>
            <a:off x="174325" y="132800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0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434" name="Google Shape;434;p40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435" name="Google Shape;43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0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437" name="Google Shape;437;p40"/>
          <p:cNvSpPr txBox="1"/>
          <p:nvPr/>
        </p:nvSpPr>
        <p:spPr>
          <a:xfrm>
            <a:off x="502200" y="132800"/>
            <a:ext cx="62622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Checkstyle</a:t>
            </a:r>
            <a:endParaRPr sz="4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" name="Google Shape;438;p40" title="checkstyle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600" y="1024100"/>
            <a:ext cx="9672800" cy="52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1"/>
          <p:cNvSpPr txBox="1">
            <a:spLocks noGrp="1"/>
          </p:cNvSpPr>
          <p:nvPr>
            <p:ph type="body" idx="1"/>
          </p:nvPr>
        </p:nvSpPr>
        <p:spPr>
          <a:xfrm>
            <a:off x="174325" y="132800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1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447" name="Google Shape;447;p41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448" name="Google Shape;448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1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450" name="Google Shape;450;p41"/>
          <p:cNvSpPr txBox="1"/>
          <p:nvPr/>
        </p:nvSpPr>
        <p:spPr>
          <a:xfrm>
            <a:off x="502200" y="132800"/>
            <a:ext cx="62622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Spotbugs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1" title="spotbug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3951" y="1098274"/>
            <a:ext cx="9590732" cy="50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"/>
          <p:cNvSpPr txBox="1">
            <a:spLocks noGrp="1"/>
          </p:cNvSpPr>
          <p:nvPr>
            <p:ph type="body" idx="1"/>
          </p:nvPr>
        </p:nvSpPr>
        <p:spPr>
          <a:xfrm>
            <a:off x="174325" y="132800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2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460" name="Google Shape;460;p42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461" name="Google Shape;46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2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463" name="Google Shape;463;p42"/>
          <p:cNvSpPr txBox="1"/>
          <p:nvPr/>
        </p:nvSpPr>
        <p:spPr>
          <a:xfrm>
            <a:off x="502200" y="132800"/>
            <a:ext cx="62622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Javadoc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4" name="Google Shape;464;p42" title="Screenshot 2025-07-23 1725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526" y="1199775"/>
            <a:ext cx="4421022" cy="47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2" title="Screenshot 2025-07-23 1725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5450" y="1265251"/>
            <a:ext cx="4998346" cy="476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3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474" name="Google Shape;47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3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76" name="Google Shape;476;p43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477" name="Google Shape;477;p43"/>
          <p:cNvPicPr preferRelativeResize="0"/>
          <p:nvPr/>
        </p:nvPicPr>
        <p:blipFill rotWithShape="1">
          <a:blip r:embed="rId4">
            <a:alphaModFix/>
          </a:blip>
          <a:srcRect r="8892" b="8892"/>
          <a:stretch/>
        </p:blipFill>
        <p:spPr>
          <a:xfrm>
            <a:off x="3029525" y="826463"/>
            <a:ext cx="3441850" cy="52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3"/>
          <p:cNvSpPr txBox="1"/>
          <p:nvPr/>
        </p:nvSpPr>
        <p:spPr>
          <a:xfrm>
            <a:off x="502200" y="43925"/>
            <a:ext cx="99072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Structure(backend)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9" name="Google Shape;47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487" name="Google Shape;487;p44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90" name="Google Shape;490;p44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491" name="Google Shape;49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325" y="1546975"/>
            <a:ext cx="78003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4"/>
          <p:cNvSpPr txBox="1"/>
          <p:nvPr/>
        </p:nvSpPr>
        <p:spPr>
          <a:xfrm>
            <a:off x="546900" y="388300"/>
            <a:ext cx="89418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Dependency Structure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01" name="Google Shape;501;p45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502" name="Google Shape;50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5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04" name="Google Shape;504;p45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505" name="Google Shape;505;p45"/>
          <p:cNvSpPr txBox="1"/>
          <p:nvPr/>
        </p:nvSpPr>
        <p:spPr>
          <a:xfrm>
            <a:off x="502200" y="43925"/>
            <a:ext cx="99072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Snippets (Backend)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6" name="Google Shape;50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7625" y="0"/>
            <a:ext cx="4348301" cy="352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0572" y="3429000"/>
            <a:ext cx="5407004" cy="285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5"/>
          <p:cNvPicPr preferRelativeResize="0"/>
          <p:nvPr/>
        </p:nvPicPr>
        <p:blipFill rotWithShape="1">
          <a:blip r:embed="rId6">
            <a:alphaModFix/>
          </a:blip>
          <a:srcRect r="17518" b="17518"/>
          <a:stretch/>
        </p:blipFill>
        <p:spPr>
          <a:xfrm>
            <a:off x="351050" y="935225"/>
            <a:ext cx="5195975" cy="3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5"/>
          <p:cNvSpPr txBox="1"/>
          <p:nvPr/>
        </p:nvSpPr>
        <p:spPr>
          <a:xfrm>
            <a:off x="1824625" y="4456325"/>
            <a:ext cx="2248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Computations using Stream API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5"/>
          <p:cNvSpPr txBox="1"/>
          <p:nvPr/>
        </p:nvSpPr>
        <p:spPr>
          <a:xfrm>
            <a:off x="7662049" y="5966700"/>
            <a:ext cx="340872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Restful Controller End-point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5"/>
          <p:cNvSpPr txBox="1"/>
          <p:nvPr/>
        </p:nvSpPr>
        <p:spPr>
          <a:xfrm>
            <a:off x="8887550" y="3429000"/>
            <a:ext cx="285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and JPA Queries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19" name="Google Shape;519;p46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520" name="Google Shape;52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6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522" name="Google Shape;52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5" y="1011750"/>
            <a:ext cx="6020825" cy="55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6"/>
          <p:cNvSpPr txBox="1"/>
          <p:nvPr/>
        </p:nvSpPr>
        <p:spPr>
          <a:xfrm>
            <a:off x="315686" y="0"/>
            <a:ext cx="11560627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Separation &amp; Modularization of cross-cutting concerns utilizing Spring AOP module</a:t>
            </a:r>
            <a:endParaRPr sz="29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4" name="Google Shape;52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5100" y="1065375"/>
            <a:ext cx="6336898" cy="542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32" name="Google Shape;532;p47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533" name="Google Shape;53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7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535" name="Google Shape;535;p47"/>
          <p:cNvSpPr txBox="1"/>
          <p:nvPr/>
        </p:nvSpPr>
        <p:spPr>
          <a:xfrm>
            <a:off x="977450" y="0"/>
            <a:ext cx="7842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End Project structure</a:t>
            </a:r>
            <a:endParaRPr sz="4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6" name="Google Shape;53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075" y="1066300"/>
            <a:ext cx="4511850" cy="555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8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44" name="Google Shape;544;p48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545" name="Google Shape;545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8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sp>
        <p:nvSpPr>
          <p:cNvPr id="547" name="Google Shape;547;p48"/>
          <p:cNvSpPr txBox="1"/>
          <p:nvPr/>
        </p:nvSpPr>
        <p:spPr>
          <a:xfrm>
            <a:off x="502200" y="43925"/>
            <a:ext cx="99072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Snippets (Frontend)</a:t>
            </a:r>
            <a:endParaRPr sz="4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48"/>
          <p:cNvSpPr txBox="1"/>
          <p:nvPr/>
        </p:nvSpPr>
        <p:spPr>
          <a:xfrm>
            <a:off x="2034888" y="5117325"/>
            <a:ext cx="224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Rest-API Call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00" y="935225"/>
            <a:ext cx="5314174" cy="41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3" y="935225"/>
            <a:ext cx="5448173" cy="4182099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8"/>
          <p:cNvSpPr txBox="1"/>
          <p:nvPr/>
        </p:nvSpPr>
        <p:spPr>
          <a:xfrm>
            <a:off x="7695675" y="5117325"/>
            <a:ext cx="271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and Navigation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59" name="Google Shape;559;p49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560" name="Google Shape;56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9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562" name="Google Shape;56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00" y="792250"/>
            <a:ext cx="10553226" cy="56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9"/>
          <p:cNvSpPr txBox="1"/>
          <p:nvPr/>
        </p:nvSpPr>
        <p:spPr>
          <a:xfrm>
            <a:off x="2616575" y="43925"/>
            <a:ext cx="47427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 sz="4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0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71" name="Google Shape;571;p50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572" name="Google Shape;57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0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74" name="Google Shape;574;p50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575" name="Google Shape;57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250" y="996125"/>
            <a:ext cx="9382375" cy="525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1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84" name="Google Shape;584;p51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585" name="Google Shape;585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1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87" name="Google Shape;587;p51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588" name="Google Shape;58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65634"/>
            <a:ext cx="9753408" cy="524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2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597" name="Google Shape;597;p52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598" name="Google Shape;598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52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00" name="Google Shape;600;p52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01" name="Google Shape;60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65634"/>
            <a:ext cx="9802329" cy="524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3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610" name="Google Shape;610;p53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611" name="Google Shape;611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3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13" name="Google Shape;613;p53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14" name="Google Shape;61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475" y="2056326"/>
            <a:ext cx="11549998" cy="411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4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623" name="Google Shape;623;p54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624" name="Google Shape;62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4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26" name="Google Shape;626;p54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27" name="Google Shape;62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65634"/>
            <a:ext cx="9724095" cy="524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5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636" name="Google Shape;636;p55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637" name="Google Shape;63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5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39" name="Google Shape;639;p55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40" name="Google Shape;64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65634"/>
            <a:ext cx="9780880" cy="5248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6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649" name="Google Shape;649;p56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650" name="Google Shape;65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56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52" name="Google Shape;652;p56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53" name="Google Shape;65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849817" cy="3906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7"/>
          <p:cNvSpPr txBox="1">
            <a:spLocks noGrp="1"/>
          </p:cNvSpPr>
          <p:nvPr>
            <p:ph type="body" idx="1"/>
          </p:nvPr>
        </p:nvSpPr>
        <p:spPr>
          <a:xfrm>
            <a:off x="435125" y="96022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Step-by-step process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Identify entities and attributes according to functional requirements of ALM system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Created database schema and populating sample data in MySQL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Set up project skeleton using Spring Tool Suite and Maven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Perform entities mapping from business application to database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Developed REST controllers, services and repositories in Spring Boot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Create REST APIs and test them on Postman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Create frontend application using OJET v 18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Make API calls to fetch and push data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2" name="Google Shape;662;p57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663" name="Google Shape;663;p57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664" name="Google Shape;66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57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66" name="Google Shape;666;p57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67" name="Google Shape;66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8"/>
          <p:cNvSpPr txBox="1">
            <a:spLocks noGrp="1"/>
          </p:cNvSpPr>
          <p:nvPr>
            <p:ph type="body" idx="1"/>
          </p:nvPr>
        </p:nvSpPr>
        <p:spPr>
          <a:xfrm>
            <a:off x="619600" y="104382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Domain complexity and learning curve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Understanding ALM concepts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Asset Liability Management involves financial, statistical and regulatory concepts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Translating finance logic into programs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Mapping financial logic to technical implementation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Understanding OJET components ,routing and charting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Entity mapping and creating a RESTful architecture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Database design as per normalization rules.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8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676" name="Google Shape;676;p58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677" name="Google Shape;677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8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9" name="Google Shape;679;p58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80" name="Google Shape;68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9"/>
          <p:cNvSpPr txBox="1">
            <a:spLocks noGrp="1"/>
          </p:cNvSpPr>
          <p:nvPr>
            <p:ph type="body" idx="1"/>
          </p:nvPr>
        </p:nvSpPr>
        <p:spPr>
          <a:xfrm>
            <a:off x="368075" y="413225"/>
            <a:ext cx="10515600" cy="6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Learnings and takeaways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Documentation,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logging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and code quality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Implementation of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Aspect Oriented Programming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to capture invocations, exceptions and performance metrics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Application of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static code analysis tools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to adhere to industry standards and to maintain code quality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Utilizing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OJET cookbook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to integrate various UI components like charts(bar, pie) and gauges using Oracle JET 18.1.0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Various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financial instruments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used in asset liability management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Extensively tested APIs using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Postman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collections and scenario-based test cases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Centralized service visibility through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Codecentric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Admin Dashboard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including uptime, memory usage, and service registration.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59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689" name="Google Shape;689;p59"/>
          <p:cNvSpPr txBox="1">
            <a:spLocks noGrp="1"/>
          </p:cNvSpPr>
          <p:nvPr>
            <p:ph type="sldNum" idx="12"/>
          </p:nvPr>
        </p:nvSpPr>
        <p:spPr>
          <a:xfrm>
            <a:off x="8610600" y="64558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690" name="Google Shape;69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9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92" name="Google Shape;692;p59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693" name="Google Shape;69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0"/>
          <p:cNvSpPr txBox="1">
            <a:spLocks noGrp="1"/>
          </p:cNvSpPr>
          <p:nvPr>
            <p:ph type="body" idx="1"/>
          </p:nvPr>
        </p:nvSpPr>
        <p:spPr>
          <a:xfrm>
            <a:off x="2492950" y="2662525"/>
            <a:ext cx="6925200" cy="11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Thank You….!</a:t>
            </a:r>
            <a:endParaRPr sz="6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60"/>
          <p:cNvSpPr txBox="1">
            <a:spLocks noGrp="1"/>
          </p:cNvSpPr>
          <p:nvPr>
            <p:ph type="ftr" idx="11"/>
          </p:nvPr>
        </p:nvSpPr>
        <p:spPr>
          <a:xfrm>
            <a:off x="977462" y="6273333"/>
            <a:ext cx="6529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2025, Oracle and/or its affiliates  |  Confidential: Internal/Restricted/Highly Restricted</a:t>
            </a:r>
            <a:endParaRPr/>
          </a:p>
        </p:txBody>
      </p:sp>
      <p:sp>
        <p:nvSpPr>
          <p:cNvPr id="702" name="Google Shape;702;p60"/>
          <p:cNvSpPr txBox="1"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703" name="Google Shape;703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" y="5966690"/>
            <a:ext cx="2954344" cy="891309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0" descr="Image"/>
          <p:cNvSpPr/>
          <p:nvPr/>
        </p:nvSpPr>
        <p:spPr>
          <a:xfrm>
            <a:off x="10405241" y="0"/>
            <a:ext cx="1436400" cy="175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05" name="Google Shape;705;p60"/>
          <p:cNvSpPr/>
          <p:nvPr/>
        </p:nvSpPr>
        <p:spPr>
          <a:xfrm>
            <a:off x="0" y="43934"/>
            <a:ext cx="5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/>
          </a:p>
        </p:txBody>
      </p:sp>
      <p:pic>
        <p:nvPicPr>
          <p:cNvPr id="706" name="Google Shape;70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5250" y="0"/>
            <a:ext cx="1685050" cy="20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1858</Words>
  <Application>Microsoft Office PowerPoint</Application>
  <PresentationFormat>Widescreen</PresentationFormat>
  <Paragraphs>388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Times New Roman</vt:lpstr>
      <vt:lpstr>Roboto Mono</vt:lpstr>
      <vt:lpstr>Arial</vt:lpstr>
      <vt:lpstr>Georgia</vt:lpstr>
      <vt:lpstr>Calibri</vt:lpstr>
      <vt:lpstr>Office Theme</vt:lpstr>
      <vt:lpstr>Asset Liability Management System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Sabbir Poonawala</cp:lastModifiedBy>
  <cp:revision>10</cp:revision>
  <dcterms:modified xsi:type="dcterms:W3CDTF">2025-07-25T07:46:53Z</dcterms:modified>
</cp:coreProperties>
</file>