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1"/>
  </p:sldMasterIdLst>
  <p:notesMasterIdLst>
    <p:notesMasterId r:id="rId28"/>
  </p:notesMasterIdLst>
  <p:handoutMasterIdLst>
    <p:handoutMasterId r:id="rId29"/>
  </p:handoutMasterIdLst>
  <p:sldIdLst>
    <p:sldId id="311" r:id="rId2"/>
    <p:sldId id="638" r:id="rId3"/>
    <p:sldId id="658" r:id="rId4"/>
    <p:sldId id="659" r:id="rId5"/>
    <p:sldId id="660" r:id="rId6"/>
    <p:sldId id="662" r:id="rId7"/>
    <p:sldId id="666" r:id="rId8"/>
    <p:sldId id="661" r:id="rId9"/>
    <p:sldId id="664" r:id="rId10"/>
    <p:sldId id="667" r:id="rId11"/>
    <p:sldId id="685" r:id="rId12"/>
    <p:sldId id="669" r:id="rId13"/>
    <p:sldId id="686" r:id="rId14"/>
    <p:sldId id="684" r:id="rId15"/>
    <p:sldId id="671" r:id="rId16"/>
    <p:sldId id="672" r:id="rId17"/>
    <p:sldId id="673" r:id="rId18"/>
    <p:sldId id="668" r:id="rId19"/>
    <p:sldId id="670" r:id="rId20"/>
    <p:sldId id="674" r:id="rId21"/>
    <p:sldId id="681" r:id="rId22"/>
    <p:sldId id="682" r:id="rId23"/>
    <p:sldId id="683" r:id="rId24"/>
    <p:sldId id="675" r:id="rId25"/>
    <p:sldId id="680" r:id="rId26"/>
    <p:sldId id="65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e Template" id="{69045656-7065-4BB1-A1A9-DB79A6F0EFA5}">
          <p14:sldIdLst/>
        </p14:section>
        <p14:section name="Light Theme" id="{97E5D356-5E1C-4C00-B956-86ABE712CB54}">
          <p14:sldIdLst>
            <p14:sldId id="311"/>
            <p14:sldId id="638"/>
            <p14:sldId id="658"/>
            <p14:sldId id="659"/>
            <p14:sldId id="660"/>
            <p14:sldId id="662"/>
            <p14:sldId id="666"/>
            <p14:sldId id="661"/>
            <p14:sldId id="664"/>
            <p14:sldId id="667"/>
            <p14:sldId id="685"/>
            <p14:sldId id="669"/>
            <p14:sldId id="686"/>
            <p14:sldId id="684"/>
            <p14:sldId id="671"/>
            <p14:sldId id="672"/>
            <p14:sldId id="673"/>
            <p14:sldId id="668"/>
            <p14:sldId id="670"/>
            <p14:sldId id="674"/>
            <p14:sldId id="681"/>
            <p14:sldId id="682"/>
            <p14:sldId id="683"/>
            <p14:sldId id="675"/>
            <p14:sldId id="680"/>
            <p14:sldId id="65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masekhar Bangalore" initials="SB" lastIdx="27" clrIdx="0">
    <p:extLst>
      <p:ext uri="{19B8F6BF-5375-455C-9EA6-DF929625EA0E}">
        <p15:presenceInfo xmlns:p15="http://schemas.microsoft.com/office/powerpoint/2012/main" userId="Somasekhar Bangalore" providerId="None"/>
      </p:ext>
    </p:extLst>
  </p:cmAuthor>
  <p:cmAuthor id="2" name="Karthik Ganapathy" initials="KG" lastIdx="6" clrIdx="1">
    <p:extLst>
      <p:ext uri="{19B8F6BF-5375-455C-9EA6-DF929625EA0E}">
        <p15:presenceInfo xmlns:p15="http://schemas.microsoft.com/office/powerpoint/2012/main" userId="Karthik Ganapathy" providerId="None"/>
      </p:ext>
    </p:extLst>
  </p:cmAuthor>
  <p:cmAuthor id="3" name="ANTYAGI" initials="A" lastIdx="10" clrIdx="2">
    <p:extLst>
      <p:ext uri="{19B8F6BF-5375-455C-9EA6-DF929625EA0E}">
        <p15:presenceInfo xmlns:p15="http://schemas.microsoft.com/office/powerpoint/2012/main" userId="ANTYAGI" providerId="None"/>
      </p:ext>
    </p:extLst>
  </p:cmAuthor>
  <p:cmAuthor id="4" name="Ramakrishna Penumarthy" initials="RP" lastIdx="5" clrIdx="3">
    <p:extLst>
      <p:ext uri="{19B8F6BF-5375-455C-9EA6-DF929625EA0E}">
        <p15:presenceInfo xmlns:p15="http://schemas.microsoft.com/office/powerpoint/2012/main" userId="Ramakrishna Penumarthy" providerId="None"/>
      </p:ext>
    </p:extLst>
  </p:cmAuthor>
  <p:cmAuthor id="5" name="Subhas Budala" initials="SB" lastIdx="4" clrIdx="4">
    <p:extLst>
      <p:ext uri="{19B8F6BF-5375-455C-9EA6-DF929625EA0E}">
        <p15:presenceInfo xmlns:p15="http://schemas.microsoft.com/office/powerpoint/2012/main" userId="Subhas Buda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3E0"/>
    <a:srgbClr val="D2CDC7"/>
    <a:srgbClr val="A8A29B"/>
    <a:srgbClr val="BBD1D1"/>
    <a:srgbClr val="E0E2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55" autoAdjust="0"/>
    <p:restoredTop sz="93792" autoAdjust="0"/>
  </p:normalViewPr>
  <p:slideViewPr>
    <p:cSldViewPr snapToGrid="0" showGuides="1">
      <p:cViewPr varScale="1">
        <p:scale>
          <a:sx n="69" d="100"/>
          <a:sy n="69" d="100"/>
        </p:scale>
        <p:origin x="1541" y="341"/>
      </p:cViewPr>
      <p:guideLst>
        <p:guide orient="horz" pos="2160"/>
        <p:guide pos="3840"/>
      </p:guideLst>
    </p:cSldViewPr>
  </p:slideViewPr>
  <p:outlineViewPr>
    <p:cViewPr>
      <p:scale>
        <a:sx n="33" d="100"/>
        <a:sy n="33" d="100"/>
      </p:scale>
      <p:origin x="0" y="-194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B737CA-E265-B97D-4640-371F9C93C5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F5130C-D288-F00F-9781-0DF32ADA55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753C8-B3DF-4C1B-966C-ECD7BA06B986}" type="datetimeFigureOut">
              <a:rPr lang="en-IN" smtClean="0"/>
              <a:t>25-07-2025</a:t>
            </a:fld>
            <a:endParaRPr lang="en-IN"/>
          </a:p>
        </p:txBody>
      </p:sp>
      <p:sp>
        <p:nvSpPr>
          <p:cNvPr id="4" name="Footer Placeholder 3">
            <a:extLst>
              <a:ext uri="{FF2B5EF4-FFF2-40B4-BE49-F238E27FC236}">
                <a16:creationId xmlns:a16="http://schemas.microsoft.com/office/drawing/2014/main" id="{C684C786-A7E5-4F13-3FE3-F5AAF8C2326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3E1079F-58A6-478D-72CE-CC9EE1CA8C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2DEA4B-F62F-473B-83B1-E5FFC6A0FB23}" type="slidenum">
              <a:rPr lang="en-IN" smtClean="0"/>
              <a:t>‹#›</a:t>
            </a:fld>
            <a:endParaRPr lang="en-IN"/>
          </a:p>
        </p:txBody>
      </p:sp>
    </p:spTree>
    <p:extLst>
      <p:ext uri="{BB962C8B-B14F-4D97-AF65-F5344CB8AC3E}">
        <p14:creationId xmlns:p14="http://schemas.microsoft.com/office/powerpoint/2010/main" val="143761591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9C25BA-F9B0-4418-8CA0-3A9DF1256BA5}" type="datetimeFigureOut">
              <a:rPr lang="en-US" smtClean="0"/>
              <a:t>7/25/2025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DC5964-3162-43B5-B1EC-63C8D166D7D3}" type="slidenum">
              <a:rPr lang="en-US" smtClean="0"/>
              <a:t>‹#›</a:t>
            </a:fld>
            <a:endParaRPr lang="en-US"/>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t>1</a:t>
            </a:fld>
            <a:endParaRPr lang="en-US"/>
          </a:p>
        </p:txBody>
      </p:sp>
      <p:sp>
        <p:nvSpPr>
          <p:cNvPr id="5" name="Header Placeholder 4">
            <a:extLst>
              <a:ext uri="{FF2B5EF4-FFF2-40B4-BE49-F238E27FC236}">
                <a16:creationId xmlns:a16="http://schemas.microsoft.com/office/drawing/2014/main" id="{6E9B0E4A-AA28-C688-9D06-E789785E156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750653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EDC5964-3162-43B5-B1EC-63C8D166D7D3}" type="slidenum">
              <a:rPr lang="en-US" smtClean="0"/>
              <a:t>2</a:t>
            </a:fld>
            <a:endParaRPr lang="en-US"/>
          </a:p>
        </p:txBody>
      </p:sp>
    </p:spTree>
    <p:extLst>
      <p:ext uri="{BB962C8B-B14F-4D97-AF65-F5344CB8AC3E}">
        <p14:creationId xmlns:p14="http://schemas.microsoft.com/office/powerpoint/2010/main" val="3985529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EDC5964-3162-43B5-B1EC-63C8D166D7D3}" type="slidenum">
              <a:rPr lang="en-US" smtClean="0"/>
              <a:t>3</a:t>
            </a:fld>
            <a:endParaRPr lang="en-US"/>
          </a:p>
        </p:txBody>
      </p:sp>
    </p:spTree>
    <p:extLst>
      <p:ext uri="{BB962C8B-B14F-4D97-AF65-F5344CB8AC3E}">
        <p14:creationId xmlns:p14="http://schemas.microsoft.com/office/powerpoint/2010/main" val="341235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EDC5964-3162-43B5-B1EC-63C8D166D7D3}" type="slidenum">
              <a:rPr lang="en-US" smtClean="0"/>
              <a:t>4</a:t>
            </a:fld>
            <a:endParaRPr lang="en-US"/>
          </a:p>
        </p:txBody>
      </p:sp>
    </p:spTree>
    <p:extLst>
      <p:ext uri="{BB962C8B-B14F-4D97-AF65-F5344CB8AC3E}">
        <p14:creationId xmlns:p14="http://schemas.microsoft.com/office/powerpoint/2010/main" val="2603468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EDC5964-3162-43B5-B1EC-63C8D166D7D3}" type="slidenum">
              <a:rPr lang="en-US" smtClean="0"/>
              <a:t>26</a:t>
            </a:fld>
            <a:endParaRPr lang="en-US"/>
          </a:p>
        </p:txBody>
      </p:sp>
    </p:spTree>
    <p:extLst>
      <p:ext uri="{BB962C8B-B14F-4D97-AF65-F5344CB8AC3E}">
        <p14:creationId xmlns:p14="http://schemas.microsoft.com/office/powerpoint/2010/main" val="95885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C8E7-953A-44F2-9477-077463CC36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7D06FE-64A3-4282-A7C7-3256982F0A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4B05D5-F7B9-4BC4-854B-26CA4B0B6C8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8E5244F-9DE0-4311-98E7-979223CAAD21}"/>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DD1C46E0-7E37-4E5A-B114-3DB38755DD21}"/>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8423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E18E4-7BB1-4265-B0B5-4E6450703A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2E60D-E1DF-47C3-A729-6129A55056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74F60-074B-42E3-93F3-E30676F49A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119B90-5687-47BC-8194-548315B7F5E4}"/>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8986D884-4A8F-42D0-86F8-8C269F60D48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4643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29606-84C5-4E5D-951E-90974F0A1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430ABE-968A-4963-B3BD-9FC8254C6E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EA455-CF1D-4826-B9B9-AE0F38A8B8B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3F3D559-0CE3-4968-8806-82EF425A42DC}"/>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8C89E45C-C19F-4B2B-9E86-F05814FE0156}"/>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594446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199B-4DA4-4EBA-8264-DD09068D1C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86BBAB-79C8-4BDB-8E60-D9ADED4356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2E07B4-0C55-49FA-87C5-C32F1B7A15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0FCE2-3922-48B5-B255-3D2703A965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74CDE17-DD7A-4391-BC47-30FE6D74037D}"/>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7" name="Slide Number Placeholder 6">
            <a:extLst>
              <a:ext uri="{FF2B5EF4-FFF2-40B4-BE49-F238E27FC236}">
                <a16:creationId xmlns:a16="http://schemas.microsoft.com/office/drawing/2014/main" id="{63B39356-BA5B-4934-A54D-B09A4F2468BB}"/>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32599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7B1E-16A9-43CA-84C3-C099FBB731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CB1489-F149-4373-A061-784A78659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FCFDF-791D-4E5A-88EF-4666700A6D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E201E1-04A4-4252-B4C8-CD8E5CC29A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08305-BA6E-4AB8-BE71-7C67DCB308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B045EF-8FBD-489A-9B26-6CBCBB2E7EF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94A0626B-325B-4EE5-9DC5-30817D622E53}"/>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9" name="Slide Number Placeholder 8">
            <a:extLst>
              <a:ext uri="{FF2B5EF4-FFF2-40B4-BE49-F238E27FC236}">
                <a16:creationId xmlns:a16="http://schemas.microsoft.com/office/drawing/2014/main" id="{574C9163-A7A4-48EC-A349-D6F0022470C3}"/>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08299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B8F-2962-4DCD-B86D-0B5B291D8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7B1463-C08D-4A6D-86E3-4E409FBFB95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2F078F6-64AE-45BB-9CC0-0BC7D75B27C3}"/>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DC9829F0-0F83-448D-9A8B-BE1FA8A147B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20011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11D6B1-0051-447C-BFF8-04E825847DBC}"/>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8A68E58-142A-4CEB-9B9C-B9B995AA19C6}"/>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4" name="Slide Number Placeholder 3">
            <a:extLst>
              <a:ext uri="{FF2B5EF4-FFF2-40B4-BE49-F238E27FC236}">
                <a16:creationId xmlns:a16="http://schemas.microsoft.com/office/drawing/2014/main" id="{FE3E1C89-CAAB-4BB2-B802-06189FDD88BD}"/>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41898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AB42-B293-4172-8BDD-C85D10143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8D6D3F-83FB-49D3-B8D8-51AAE6EE8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BD6E66-8EC4-43A0-9A80-005184DC1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6B7A5-0BE7-4A99-BEFF-37671B39C8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483B393-A0CA-4422-A715-0E87A70251C0}"/>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7" name="Slide Number Placeholder 6">
            <a:extLst>
              <a:ext uri="{FF2B5EF4-FFF2-40B4-BE49-F238E27FC236}">
                <a16:creationId xmlns:a16="http://schemas.microsoft.com/office/drawing/2014/main" id="{6BCC010F-FE3B-4FC7-B42C-58029836CAD6}"/>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8930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8536-392A-4D00-B5D9-F8B9E94927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5EF5AA-2E2F-459A-BF16-5EAFD4154D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4D5372-CF1B-4B7E-8738-8261144F0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F0A28-7973-4F96-8EBD-912C7E0DE4A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B48CAEB-A85B-4F55-A783-A5227ABE8329}"/>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7" name="Slide Number Placeholder 6">
            <a:extLst>
              <a:ext uri="{FF2B5EF4-FFF2-40B4-BE49-F238E27FC236}">
                <a16:creationId xmlns:a16="http://schemas.microsoft.com/office/drawing/2014/main" id="{4F16564F-3B92-4218-A8A6-2AAFEA1FE5C0}"/>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49910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1F3D-9074-4F1E-A405-BFD1BE66AC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8E197A-8BCD-46CB-B4EA-FA390FB7E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79B9A-E457-4531-BAD9-E529AACC246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0A36785-65D3-4A84-BB87-7684571D39AA}"/>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76DD6B86-C426-4350-A7F6-4E913013FDBB}"/>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234514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F0E2DE-CDEC-46ED-B30B-42EDDB9629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C05832-E080-477A-8C8E-BA6DDA13A2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F4003A-E627-47B0-A776-C8DC8D715D5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756A761-5B45-42DD-B6D3-63370257C05D}"/>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2113111C-9078-49CD-9461-AC599DB5E5D7}"/>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20542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Light - Title with Abstract Border">
    <p:bg>
      <p:bgPr>
        <a:solidFill>
          <a:schemeClr val="bg2"/>
        </a:solidFill>
        <a:effectLst/>
      </p:bgPr>
    </p:bg>
    <p:spTree>
      <p:nvGrpSpPr>
        <p:cNvPr id="1" name=""/>
        <p:cNvGrpSpPr/>
        <p:nvPr/>
      </p:nvGrpSpPr>
      <p:grpSpPr>
        <a:xfrm>
          <a:off x="0" y="0"/>
          <a:ext cx="0" cy="0"/>
          <a:chOff x="0" y="0"/>
          <a:chExt cx="0" cy="0"/>
        </a:xfrm>
      </p:grpSpPr>
      <p:sp>
        <p:nvSpPr>
          <p:cNvPr id="4" name="Text Field">
            <a:extLst>
              <a:ext uri="{FF2B5EF4-FFF2-40B4-BE49-F238E27FC236}">
                <a16:creationId xmlns:a16="http://schemas.microsoft.com/office/drawing/2014/main" id="{7F29C372-9BB3-B540-BC47-46BD6E59417E}"/>
              </a:ext>
            </a:extLst>
          </p:cNvPr>
          <p:cNvSpPr>
            <a:spLocks noGrp="1"/>
          </p:cNvSpPr>
          <p:nvPr>
            <p:ph type="body" sz="quarter" idx="34" hasCustomPrompt="1"/>
          </p:nvPr>
        </p:nvSpPr>
        <p:spPr>
          <a:xfrm>
            <a:off x="1018030" y="4706392"/>
            <a:ext cx="5077970" cy="895181"/>
          </a:xfrm>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15" name="Text Field">
            <a:extLst>
              <a:ext uri="{FF2B5EF4-FFF2-40B4-BE49-F238E27FC236}">
                <a16:creationId xmlns:a16="http://schemas.microsoft.com/office/drawing/2014/main" id="{5EDA7B8D-9195-5945-993F-1344630DF996}"/>
              </a:ext>
            </a:extLst>
          </p:cNvPr>
          <p:cNvSpPr>
            <a:spLocks noGrp="1"/>
          </p:cNvSpPr>
          <p:nvPr>
            <p:ph type="body" sz="quarter" idx="35" hasCustomPrompt="1"/>
          </p:nvPr>
        </p:nvSpPr>
        <p:spPr>
          <a:xfrm>
            <a:off x="1018030" y="4368799"/>
            <a:ext cx="5077970" cy="266291"/>
          </a:xfrm>
        </p:spPr>
        <p:txBody>
          <a:bodyPr>
            <a:noAutofit/>
          </a:bodyPr>
          <a:lstStyle>
            <a:lvl1pPr>
              <a:defRPr b="1"/>
            </a:lvl1pPr>
          </a:lstStyle>
          <a:p>
            <a:pPr lvl="0"/>
            <a:r>
              <a:rPr lang="en-US" dirty="0"/>
              <a:t>Name</a:t>
            </a:r>
          </a:p>
        </p:txBody>
      </p:sp>
      <p:sp>
        <p:nvSpPr>
          <p:cNvPr id="27" name="Subhead">
            <a:extLst>
              <a:ext uri="{FF2B5EF4-FFF2-40B4-BE49-F238E27FC236}">
                <a16:creationId xmlns:a16="http://schemas.microsoft.com/office/drawing/2014/main" id="{12EB3548-39AB-5846-A4F6-A7D8515AEE59}"/>
              </a:ext>
            </a:extLst>
          </p:cNvPr>
          <p:cNvSpPr>
            <a:spLocks noGrp="1"/>
          </p:cNvSpPr>
          <p:nvPr>
            <p:ph type="body" sz="quarter" idx="33" hasCustomPrompt="1"/>
          </p:nvPr>
        </p:nvSpPr>
        <p:spPr>
          <a:xfrm>
            <a:off x="1018030" y="3519553"/>
            <a:ext cx="10158984" cy="341247"/>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6" name="Title">
            <a:extLst>
              <a:ext uri="{FF2B5EF4-FFF2-40B4-BE49-F238E27FC236}">
                <a16:creationId xmlns:a16="http://schemas.microsoft.com/office/drawing/2014/main" id="{2E021ED4-814D-9648-831F-EDE24ED2D4F8}"/>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defRPr sz="4000" b="0">
                <a:latin typeface="Georgia" panose="02040502050405020303" pitchFamily="18" charset="0"/>
              </a:defRPr>
            </a:lvl1pPr>
          </a:lstStyle>
          <a:p>
            <a:r>
              <a:rPr lang="en-US" dirty="0"/>
              <a:t>Title goes here (up to two lines) </a:t>
            </a:r>
            <a:br>
              <a:rPr lang="en-US" dirty="0"/>
            </a:br>
            <a:r>
              <a:rPr lang="en-US" dirty="0"/>
              <a:t>Georgia Regular 40pt</a:t>
            </a:r>
          </a:p>
        </p:txBody>
      </p:sp>
      <p:pic>
        <p:nvPicPr>
          <p:cNvPr id="12" name="Abstract Illustration">
            <a:extLst>
              <a:ext uri="{FF2B5EF4-FFF2-40B4-BE49-F238E27FC236}">
                <a16:creationId xmlns:a16="http://schemas.microsoft.com/office/drawing/2014/main" id="{E5246624-F21C-C74D-A490-03903A0F51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761999 w 12192000"/>
              <a:gd name="connsiteY0" fmla="*/ 587874 h 6858000"/>
              <a:gd name="connsiteX1" fmla="*/ 761999 w 12192000"/>
              <a:gd name="connsiteY1" fmla="*/ 6270127 h 6858000"/>
              <a:gd name="connsiteX2" fmla="*/ 11430000 w 12192000"/>
              <a:gd name="connsiteY2" fmla="*/ 6270127 h 6858000"/>
              <a:gd name="connsiteX3" fmla="*/ 11430000 w 12192000"/>
              <a:gd name="connsiteY3" fmla="*/ 587874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61999" y="587874"/>
                </a:moveTo>
                <a:lnTo>
                  <a:pt x="761999" y="6270127"/>
                </a:lnTo>
                <a:lnTo>
                  <a:pt x="11430000" y="6270127"/>
                </a:lnTo>
                <a:lnTo>
                  <a:pt x="11430000" y="587874"/>
                </a:lnTo>
                <a:close/>
                <a:moveTo>
                  <a:pt x="0" y="0"/>
                </a:moveTo>
                <a:lnTo>
                  <a:pt x="12192000" y="0"/>
                </a:lnTo>
                <a:lnTo>
                  <a:pt x="12192000" y="6858000"/>
                </a:lnTo>
                <a:lnTo>
                  <a:pt x="0" y="6858000"/>
                </a:lnTo>
                <a:close/>
              </a:path>
            </a:pathLst>
          </a:custGeom>
        </p:spPr>
      </p:pic>
      <p:pic>
        <p:nvPicPr>
          <p:cNvPr id="13" name="OTag">
            <a:extLst>
              <a:ext uri="{FF2B5EF4-FFF2-40B4-BE49-F238E27FC236}">
                <a16:creationId xmlns:a16="http://schemas.microsoft.com/office/drawing/2014/main" id="{EDF18AE6-A97A-EC4A-9347-1802C0689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cxnSp>
        <p:nvCxnSpPr>
          <p:cNvPr id="14" name="Accent Mark">
            <a:extLst>
              <a:ext uri="{FF2B5EF4-FFF2-40B4-BE49-F238E27FC236}">
                <a16:creationId xmlns:a16="http://schemas.microsoft.com/office/drawing/2014/main" id="{AA45C8D8-A5D7-DC46-8327-6FCBF03151F6}"/>
              </a:ext>
            </a:extLst>
          </p:cNvPr>
          <p:cNvCxnSpPr>
            <a:cxnSpLocks/>
          </p:cNvCxnSpPr>
          <p:nvPr userDrawn="1"/>
        </p:nvCxnSpPr>
        <p:spPr>
          <a:xfrm flipH="1">
            <a:off x="1018030" y="4114800"/>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pic>
        <p:nvPicPr>
          <p:cNvPr id="16" name="Oracle Logo">
            <a:extLst>
              <a:ext uri="{FF2B5EF4-FFF2-40B4-BE49-F238E27FC236}">
                <a16:creationId xmlns:a16="http://schemas.microsoft.com/office/drawing/2014/main" id="{221EC6FF-8F78-9E44-AD47-BEE824DD0F6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Tree>
    <p:extLst>
      <p:ext uri="{BB962C8B-B14F-4D97-AF65-F5344CB8AC3E}">
        <p14:creationId xmlns:p14="http://schemas.microsoft.com/office/powerpoint/2010/main" val="19742564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Light - Title with Abstract Border">
    <p:bg>
      <p:bgPr>
        <a:solidFill>
          <a:schemeClr val="bg2"/>
        </a:solidFill>
        <a:effectLst/>
      </p:bgPr>
    </p:bg>
    <p:spTree>
      <p:nvGrpSpPr>
        <p:cNvPr id="1" name=""/>
        <p:cNvGrpSpPr/>
        <p:nvPr/>
      </p:nvGrpSpPr>
      <p:grpSpPr>
        <a:xfrm>
          <a:off x="0" y="0"/>
          <a:ext cx="0" cy="0"/>
          <a:chOff x="0" y="0"/>
          <a:chExt cx="0" cy="0"/>
        </a:xfrm>
      </p:grpSpPr>
      <p:pic>
        <p:nvPicPr>
          <p:cNvPr id="11" name="Abstract Illustration">
            <a:extLst>
              <a:ext uri="{FF2B5EF4-FFF2-40B4-BE49-F238E27FC236}">
                <a16:creationId xmlns:a16="http://schemas.microsoft.com/office/drawing/2014/main" id="{E5246624-F21C-C74D-A490-03903A0F51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761999 w 12192000"/>
              <a:gd name="connsiteY0" fmla="*/ 587874 h 6858000"/>
              <a:gd name="connsiteX1" fmla="*/ 761999 w 12192000"/>
              <a:gd name="connsiteY1" fmla="*/ 6270127 h 6858000"/>
              <a:gd name="connsiteX2" fmla="*/ 11430000 w 12192000"/>
              <a:gd name="connsiteY2" fmla="*/ 6270127 h 6858000"/>
              <a:gd name="connsiteX3" fmla="*/ 11430000 w 12192000"/>
              <a:gd name="connsiteY3" fmla="*/ 587874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61999" y="587874"/>
                </a:moveTo>
                <a:lnTo>
                  <a:pt x="761999" y="6270127"/>
                </a:lnTo>
                <a:lnTo>
                  <a:pt x="11430000" y="6270127"/>
                </a:lnTo>
                <a:lnTo>
                  <a:pt x="11430000" y="587874"/>
                </a:lnTo>
                <a:close/>
                <a:moveTo>
                  <a:pt x="0" y="0"/>
                </a:moveTo>
                <a:lnTo>
                  <a:pt x="12192000" y="0"/>
                </a:lnTo>
                <a:lnTo>
                  <a:pt x="12192000" y="6858000"/>
                </a:lnTo>
                <a:lnTo>
                  <a:pt x="0" y="6858000"/>
                </a:lnTo>
                <a:close/>
              </a:path>
            </a:pathLst>
          </a:custGeom>
        </p:spPr>
      </p:pic>
      <p:pic>
        <p:nvPicPr>
          <p:cNvPr id="30" name="OTag">
            <a:extLst>
              <a:ext uri="{FF2B5EF4-FFF2-40B4-BE49-F238E27FC236}">
                <a16:creationId xmlns:a16="http://schemas.microsoft.com/office/drawing/2014/main" id="{EDF18AE6-A97A-EC4A-9347-1802C0689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Text Field">
            <a:extLst>
              <a:ext uri="{FF2B5EF4-FFF2-40B4-BE49-F238E27FC236}">
                <a16:creationId xmlns:a16="http://schemas.microsoft.com/office/drawing/2014/main" id="{7F29C372-9BB3-B540-BC47-46BD6E59417E}"/>
              </a:ext>
            </a:extLst>
          </p:cNvPr>
          <p:cNvSpPr>
            <a:spLocks noGrp="1"/>
          </p:cNvSpPr>
          <p:nvPr>
            <p:ph type="body" sz="quarter" idx="34" hasCustomPrompt="1"/>
          </p:nvPr>
        </p:nvSpPr>
        <p:spPr>
          <a:xfrm>
            <a:off x="1018030" y="4706392"/>
            <a:ext cx="5077970" cy="895181"/>
          </a:xfrm>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15" name="Text Field">
            <a:extLst>
              <a:ext uri="{FF2B5EF4-FFF2-40B4-BE49-F238E27FC236}">
                <a16:creationId xmlns:a16="http://schemas.microsoft.com/office/drawing/2014/main" id="{5EDA7B8D-9195-5945-993F-1344630DF996}"/>
              </a:ext>
            </a:extLst>
          </p:cNvPr>
          <p:cNvSpPr>
            <a:spLocks noGrp="1"/>
          </p:cNvSpPr>
          <p:nvPr>
            <p:ph type="body" sz="quarter" idx="35" hasCustomPrompt="1"/>
          </p:nvPr>
        </p:nvSpPr>
        <p:spPr>
          <a:xfrm>
            <a:off x="1018030" y="4368799"/>
            <a:ext cx="5077970" cy="266291"/>
          </a:xfrm>
        </p:spPr>
        <p:txBody>
          <a:bodyPr>
            <a:noAutofit/>
          </a:bodyPr>
          <a:lstStyle>
            <a:lvl1pPr>
              <a:defRPr b="1"/>
            </a:lvl1pPr>
          </a:lstStyle>
          <a:p>
            <a:pPr lvl="0"/>
            <a:r>
              <a:rPr lang="en-US" dirty="0"/>
              <a:t>Name</a:t>
            </a:r>
          </a:p>
        </p:txBody>
      </p:sp>
      <p:cxnSp>
        <p:nvCxnSpPr>
          <p:cNvPr id="18" name="Accent Mark">
            <a:extLst>
              <a:ext uri="{FF2B5EF4-FFF2-40B4-BE49-F238E27FC236}">
                <a16:creationId xmlns:a16="http://schemas.microsoft.com/office/drawing/2014/main" id="{AA45C8D8-A5D7-DC46-8327-6FCBF03151F6}"/>
              </a:ext>
            </a:extLst>
          </p:cNvPr>
          <p:cNvCxnSpPr>
            <a:cxnSpLocks/>
          </p:cNvCxnSpPr>
          <p:nvPr userDrawn="1"/>
        </p:nvCxnSpPr>
        <p:spPr>
          <a:xfrm flipH="1">
            <a:off x="1018030" y="4114800"/>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7" name="Subhead">
            <a:extLst>
              <a:ext uri="{FF2B5EF4-FFF2-40B4-BE49-F238E27FC236}">
                <a16:creationId xmlns:a16="http://schemas.microsoft.com/office/drawing/2014/main" id="{12EB3548-39AB-5846-A4F6-A7D8515AEE59}"/>
              </a:ext>
            </a:extLst>
          </p:cNvPr>
          <p:cNvSpPr>
            <a:spLocks noGrp="1"/>
          </p:cNvSpPr>
          <p:nvPr>
            <p:ph type="body" sz="quarter" idx="33" hasCustomPrompt="1"/>
          </p:nvPr>
        </p:nvSpPr>
        <p:spPr>
          <a:xfrm>
            <a:off x="1018030" y="3519553"/>
            <a:ext cx="10158984" cy="341247"/>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6" name="Title">
            <a:extLst>
              <a:ext uri="{FF2B5EF4-FFF2-40B4-BE49-F238E27FC236}">
                <a16:creationId xmlns:a16="http://schemas.microsoft.com/office/drawing/2014/main" id="{2E021ED4-814D-9648-831F-EDE24ED2D4F8}"/>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defRPr sz="4000" b="0">
                <a:latin typeface="Georgia" panose="02040502050405020303" pitchFamily="18" charset="0"/>
              </a:defRPr>
            </a:lvl1pPr>
          </a:lstStyle>
          <a:p>
            <a:r>
              <a:rPr lang="en-US" dirty="0"/>
              <a:t>Title goes here (up to two lines) </a:t>
            </a:r>
            <a:br>
              <a:rPr lang="en-US" dirty="0"/>
            </a:br>
            <a:r>
              <a:rPr lang="en-US" dirty="0"/>
              <a:t>Georgia Regular 40pt</a:t>
            </a:r>
          </a:p>
        </p:txBody>
      </p:sp>
      <p:pic>
        <p:nvPicPr>
          <p:cNvPr id="10" name="Oracle Logo">
            <a:extLst>
              <a:ext uri="{FF2B5EF4-FFF2-40B4-BE49-F238E27FC236}">
                <a16:creationId xmlns:a16="http://schemas.microsoft.com/office/drawing/2014/main" id="{221EC6FF-8F78-9E44-AD47-BEE824DD0F6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Tree>
    <p:extLst>
      <p:ext uri="{BB962C8B-B14F-4D97-AF65-F5344CB8AC3E}">
        <p14:creationId xmlns:p14="http://schemas.microsoft.com/office/powerpoint/2010/main" val="3358312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Light - Numbered Outline">
    <p:bg>
      <p:bgPr>
        <a:solidFill>
          <a:schemeClr val="bg2"/>
        </a:solidFill>
        <a:effectLst/>
      </p:bgPr>
    </p:bg>
    <p:spTree>
      <p:nvGrpSpPr>
        <p:cNvPr id="1" name=""/>
        <p:cNvGrpSpPr/>
        <p:nvPr/>
      </p:nvGrpSpPr>
      <p:grpSpPr>
        <a:xfrm>
          <a:off x="0" y="0"/>
          <a:ext cx="0" cy="0"/>
          <a:chOff x="0" y="0"/>
          <a:chExt cx="0" cy="0"/>
        </a:xfrm>
      </p:grpSpPr>
      <p:pic>
        <p:nvPicPr>
          <p:cNvPr id="32" name="Data Texture Cloud">
            <a:extLst>
              <a:ext uri="{FF2B5EF4-FFF2-40B4-BE49-F238E27FC236}">
                <a16:creationId xmlns:a16="http://schemas.microsoft.com/office/drawing/2014/main" id="{4F1E65AD-22C9-374C-97B0-B5C16E332CB8}"/>
              </a:ext>
            </a:extLst>
          </p:cNvPr>
          <p:cNvPicPr>
            <a:picLocks noChangeAspect="1"/>
          </p:cNvPicPr>
          <p:nvPr userDrawn="1"/>
        </p:nvPicPr>
        <p:blipFill rotWithShape="1">
          <a:blip r:embed="rId2">
            <a:alphaModFix amt="80000"/>
            <a:extLst>
              <a:ext uri="{28A0092B-C50C-407E-A947-70E740481C1C}">
                <a14:useLocalDpi xmlns:a14="http://schemas.microsoft.com/office/drawing/2010/main" val="0"/>
              </a:ext>
            </a:extLst>
          </a:blip>
          <a:srcRect r="48609"/>
          <a:stretch/>
        </p:blipFill>
        <p:spPr>
          <a:xfrm>
            <a:off x="9881411" y="521208"/>
            <a:ext cx="2310589" cy="1700784"/>
          </a:xfrm>
          <a:prstGeom prst="rect">
            <a:avLst/>
          </a:prstGeom>
        </p:spPr>
      </p:pic>
      <p:pic>
        <p:nvPicPr>
          <p:cNvPr id="26" name="OTag">
            <a:extLst>
              <a:ext uri="{FF2B5EF4-FFF2-40B4-BE49-F238E27FC236}">
                <a16:creationId xmlns:a16="http://schemas.microsoft.com/office/drawing/2014/main" id="{6B255320-7797-3244-AB7F-7048F2FDBB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5" name="Footer">
            <a:extLst>
              <a:ext uri="{FF2B5EF4-FFF2-40B4-BE49-F238E27FC236}">
                <a16:creationId xmlns:a16="http://schemas.microsoft.com/office/drawing/2014/main" id="{5C832301-2AE4-1245-BF5A-702B011155AF}"/>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endParaRPr lang="en-US" dirty="0"/>
          </a:p>
        </p:txBody>
      </p:sp>
      <p:sp>
        <p:nvSpPr>
          <p:cNvPr id="27" name="Slide Number">
            <a:extLst>
              <a:ext uri="{FF2B5EF4-FFF2-40B4-BE49-F238E27FC236}">
                <a16:creationId xmlns:a16="http://schemas.microsoft.com/office/drawing/2014/main" id="{ADC3B97F-4317-2244-A893-1F690DBA4FE4}"/>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dirty="0"/>
          </a:p>
        </p:txBody>
      </p:sp>
      <p:sp>
        <p:nvSpPr>
          <p:cNvPr id="18" name="Number">
            <a:extLst>
              <a:ext uri="{FF2B5EF4-FFF2-40B4-BE49-F238E27FC236}">
                <a16:creationId xmlns:a16="http://schemas.microsoft.com/office/drawing/2014/main" id="{0EC907BF-0F79-AE40-A0E1-10EDEEBBAE51}"/>
              </a:ext>
            </a:extLst>
          </p:cNvPr>
          <p:cNvSpPr>
            <a:spLocks noGrp="1"/>
          </p:cNvSpPr>
          <p:nvPr>
            <p:ph type="body" sz="quarter" idx="14" hasCustomPrompt="1"/>
          </p:nvPr>
        </p:nvSpPr>
        <p:spPr>
          <a:xfrm>
            <a:off x="768095" y="3916426"/>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dirty="0"/>
              <a:t>X</a:t>
            </a:r>
          </a:p>
        </p:txBody>
      </p:sp>
      <p:sp>
        <p:nvSpPr>
          <p:cNvPr id="17" name="Number">
            <a:extLst>
              <a:ext uri="{FF2B5EF4-FFF2-40B4-BE49-F238E27FC236}">
                <a16:creationId xmlns:a16="http://schemas.microsoft.com/office/drawing/2014/main" id="{D25DA43B-4E3A-394F-B8B3-16A0A25D880E}"/>
              </a:ext>
            </a:extLst>
          </p:cNvPr>
          <p:cNvSpPr>
            <a:spLocks noGrp="1"/>
          </p:cNvSpPr>
          <p:nvPr>
            <p:ph type="body" sz="quarter" idx="13" hasCustomPrompt="1"/>
          </p:nvPr>
        </p:nvSpPr>
        <p:spPr>
          <a:xfrm>
            <a:off x="768095" y="3397254"/>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dirty="0"/>
              <a:t>X</a:t>
            </a:r>
          </a:p>
        </p:txBody>
      </p:sp>
      <p:sp>
        <p:nvSpPr>
          <p:cNvPr id="16" name="Number">
            <a:extLst>
              <a:ext uri="{FF2B5EF4-FFF2-40B4-BE49-F238E27FC236}">
                <a16:creationId xmlns:a16="http://schemas.microsoft.com/office/drawing/2014/main" id="{DD2FB6D0-D95C-6242-A795-CCD93D8A20FE}"/>
              </a:ext>
            </a:extLst>
          </p:cNvPr>
          <p:cNvSpPr>
            <a:spLocks noGrp="1"/>
          </p:cNvSpPr>
          <p:nvPr>
            <p:ph type="body" sz="quarter" idx="12" hasCustomPrompt="1"/>
          </p:nvPr>
        </p:nvSpPr>
        <p:spPr>
          <a:xfrm>
            <a:off x="768095" y="2878080"/>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dirty="0"/>
              <a:t>X</a:t>
            </a:r>
          </a:p>
        </p:txBody>
      </p:sp>
      <p:sp>
        <p:nvSpPr>
          <p:cNvPr id="15" name="Number">
            <a:extLst>
              <a:ext uri="{FF2B5EF4-FFF2-40B4-BE49-F238E27FC236}">
                <a16:creationId xmlns:a16="http://schemas.microsoft.com/office/drawing/2014/main" id="{06493D53-065B-674D-B762-76404273F0D9}"/>
              </a:ext>
            </a:extLst>
          </p:cNvPr>
          <p:cNvSpPr>
            <a:spLocks noGrp="1"/>
          </p:cNvSpPr>
          <p:nvPr>
            <p:ph type="body" sz="quarter" idx="11" hasCustomPrompt="1"/>
          </p:nvPr>
        </p:nvSpPr>
        <p:spPr>
          <a:xfrm>
            <a:off x="768095" y="2358906"/>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dirty="0"/>
              <a:t>X</a:t>
            </a:r>
          </a:p>
        </p:txBody>
      </p:sp>
      <p:sp>
        <p:nvSpPr>
          <p:cNvPr id="13" name="Number">
            <a:extLst>
              <a:ext uri="{FF2B5EF4-FFF2-40B4-BE49-F238E27FC236}">
                <a16:creationId xmlns:a16="http://schemas.microsoft.com/office/drawing/2014/main" id="{85B432C7-6194-C04D-8607-A1DFBA3219E4}"/>
              </a:ext>
            </a:extLst>
          </p:cNvPr>
          <p:cNvSpPr>
            <a:spLocks noGrp="1"/>
          </p:cNvSpPr>
          <p:nvPr>
            <p:ph type="body" sz="quarter" idx="10" hasCustomPrompt="1"/>
          </p:nvPr>
        </p:nvSpPr>
        <p:spPr>
          <a:xfrm>
            <a:off x="768095" y="1839732"/>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dirty="0"/>
              <a:t>X</a:t>
            </a:r>
          </a:p>
        </p:txBody>
      </p:sp>
      <p:sp>
        <p:nvSpPr>
          <p:cNvPr id="23" name="Text Field">
            <a:extLst>
              <a:ext uri="{FF2B5EF4-FFF2-40B4-BE49-F238E27FC236}">
                <a16:creationId xmlns:a16="http://schemas.microsoft.com/office/drawing/2014/main" id="{6D1BD307-5E4B-9647-A402-54CF30BEC3C6}"/>
              </a:ext>
            </a:extLst>
          </p:cNvPr>
          <p:cNvSpPr>
            <a:spLocks noGrp="1"/>
          </p:cNvSpPr>
          <p:nvPr>
            <p:ph type="body" idx="19"/>
          </p:nvPr>
        </p:nvSpPr>
        <p:spPr>
          <a:xfrm>
            <a:off x="1371411" y="3916426"/>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Field">
            <a:extLst>
              <a:ext uri="{FF2B5EF4-FFF2-40B4-BE49-F238E27FC236}">
                <a16:creationId xmlns:a16="http://schemas.microsoft.com/office/drawing/2014/main" id="{A5DE72B7-8353-7C47-A8C2-69DED713D179}"/>
              </a:ext>
            </a:extLst>
          </p:cNvPr>
          <p:cNvSpPr>
            <a:spLocks noGrp="1"/>
          </p:cNvSpPr>
          <p:nvPr>
            <p:ph type="body" idx="18"/>
          </p:nvPr>
        </p:nvSpPr>
        <p:spPr>
          <a:xfrm>
            <a:off x="1371411" y="3397229"/>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Field">
            <a:extLst>
              <a:ext uri="{FF2B5EF4-FFF2-40B4-BE49-F238E27FC236}">
                <a16:creationId xmlns:a16="http://schemas.microsoft.com/office/drawing/2014/main" id="{35FDD008-E0E6-4746-AB5B-78D012E92B2E}"/>
              </a:ext>
            </a:extLst>
          </p:cNvPr>
          <p:cNvSpPr>
            <a:spLocks noGrp="1"/>
          </p:cNvSpPr>
          <p:nvPr>
            <p:ph type="body" idx="17"/>
          </p:nvPr>
        </p:nvSpPr>
        <p:spPr>
          <a:xfrm>
            <a:off x="1371411" y="2878032"/>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Text Field">
            <a:extLst>
              <a:ext uri="{FF2B5EF4-FFF2-40B4-BE49-F238E27FC236}">
                <a16:creationId xmlns:a16="http://schemas.microsoft.com/office/drawing/2014/main" id="{53E966DA-E5B9-074E-B0AA-F5451AF51BAE}"/>
              </a:ext>
            </a:extLst>
          </p:cNvPr>
          <p:cNvSpPr>
            <a:spLocks noGrp="1"/>
          </p:cNvSpPr>
          <p:nvPr>
            <p:ph type="body" idx="16"/>
          </p:nvPr>
        </p:nvSpPr>
        <p:spPr>
          <a:xfrm>
            <a:off x="1371411" y="2358835"/>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ext Field">
            <a:extLst>
              <a:ext uri="{FF2B5EF4-FFF2-40B4-BE49-F238E27FC236}">
                <a16:creationId xmlns:a16="http://schemas.microsoft.com/office/drawing/2014/main" id="{FD86EFD9-8225-47A7-9DFF-A350F67E94AA}"/>
              </a:ext>
            </a:extLst>
          </p:cNvPr>
          <p:cNvSpPr>
            <a:spLocks noGrp="1"/>
          </p:cNvSpPr>
          <p:nvPr>
            <p:ph type="body" idx="1"/>
          </p:nvPr>
        </p:nvSpPr>
        <p:spPr>
          <a:xfrm>
            <a:off x="1371411" y="1839638"/>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30" name="Accent Mark">
            <a:extLst>
              <a:ext uri="{FF2B5EF4-FFF2-40B4-BE49-F238E27FC236}">
                <a16:creationId xmlns:a16="http://schemas.microsoft.com/office/drawing/2014/main" id="{27BF9EF6-C607-E74B-BE4E-C1CEE539A463}"/>
              </a:ext>
            </a:extLst>
          </p:cNvPr>
          <p:cNvCxnSpPr>
            <a:cxnSpLocks/>
          </p:cNvCxnSpPr>
          <p:nvPr userDrawn="1"/>
        </p:nvCxnSpPr>
        <p:spPr>
          <a:xfrm flipH="1">
            <a:off x="768095" y="158495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1" name="Title">
            <a:extLst>
              <a:ext uri="{FF2B5EF4-FFF2-40B4-BE49-F238E27FC236}">
                <a16:creationId xmlns:a16="http://schemas.microsoft.com/office/drawing/2014/main" id="{1F2D107A-3A71-E74E-9042-888785621363}"/>
              </a:ext>
            </a:extLst>
          </p:cNvPr>
          <p:cNvSpPr>
            <a:spLocks noGrp="1"/>
          </p:cNvSpPr>
          <p:nvPr>
            <p:ph type="body" sz="quarter" idx="20" hasCustomPrompt="1"/>
          </p:nvPr>
        </p:nvSpPr>
        <p:spPr>
          <a:xfrm>
            <a:off x="762000" y="508000"/>
            <a:ext cx="10671048" cy="822960"/>
          </a:xfrm>
        </p:spPr>
        <p:txBody>
          <a:bodyPr anchor="b" anchorCtr="0"/>
          <a:lstStyle>
            <a:lvl1pPr>
              <a:defRPr sz="2400" b="1"/>
            </a:lvl1pPr>
          </a:lstStyle>
          <a:p>
            <a:pPr lvl="0"/>
            <a:r>
              <a:rPr lang="en-US" dirty="0"/>
              <a:t>Title</a:t>
            </a:r>
          </a:p>
        </p:txBody>
      </p:sp>
      <p:pic>
        <p:nvPicPr>
          <p:cNvPr id="24" name="Abstract Pattern Strip">
            <a:extLst>
              <a:ext uri="{FF2B5EF4-FFF2-40B4-BE49-F238E27FC236}">
                <a16:creationId xmlns:a16="http://schemas.microsoft.com/office/drawing/2014/main" id="{6389BC6F-934C-3E4C-8EFF-C5723C482C6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Tree>
    <p:extLst>
      <p:ext uri="{BB962C8B-B14F-4D97-AF65-F5344CB8AC3E}">
        <p14:creationId xmlns:p14="http://schemas.microsoft.com/office/powerpoint/2010/main" val="2168543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Light - Title Only">
    <p:bg>
      <p:bgPr>
        <a:solidFill>
          <a:schemeClr val="bg2"/>
        </a:solidFill>
        <a:effectLst/>
      </p:bgPr>
    </p:bg>
    <p:spTree>
      <p:nvGrpSpPr>
        <p:cNvPr id="1" name=""/>
        <p:cNvGrpSpPr/>
        <p:nvPr/>
      </p:nvGrpSpPr>
      <p:grpSpPr>
        <a:xfrm>
          <a:off x="0" y="0"/>
          <a:ext cx="0" cy="0"/>
          <a:chOff x="0" y="0"/>
          <a:chExt cx="0" cy="0"/>
        </a:xfrm>
      </p:grpSpPr>
      <p:pic>
        <p:nvPicPr>
          <p:cNvPr id="20" name="Data Texture Cloud">
            <a:extLst>
              <a:ext uri="{FF2B5EF4-FFF2-40B4-BE49-F238E27FC236}">
                <a16:creationId xmlns:a16="http://schemas.microsoft.com/office/drawing/2014/main" id="{9450FB77-997D-6A45-B0F4-D18F7B9C7A4E}"/>
              </a:ext>
            </a:extLst>
          </p:cNvPr>
          <p:cNvPicPr>
            <a:picLocks noChangeAspect="1"/>
          </p:cNvPicPr>
          <p:nvPr userDrawn="1"/>
        </p:nvPicPr>
        <p:blipFill rotWithShape="1">
          <a:blip r:embed="rId2">
            <a:alphaModFix amt="80000"/>
            <a:extLst>
              <a:ext uri="{28A0092B-C50C-407E-A947-70E740481C1C}">
                <a14:useLocalDpi xmlns:a14="http://schemas.microsoft.com/office/drawing/2010/main" val="0"/>
              </a:ext>
            </a:extLst>
          </a:blip>
          <a:srcRect r="48609"/>
          <a:stretch/>
        </p:blipFill>
        <p:spPr>
          <a:xfrm>
            <a:off x="9881411" y="521208"/>
            <a:ext cx="2310589" cy="1700784"/>
          </a:xfrm>
          <a:prstGeom prst="rect">
            <a:avLst/>
          </a:prstGeom>
        </p:spPr>
      </p:pic>
      <p:pic>
        <p:nvPicPr>
          <p:cNvPr id="17" name="OTag">
            <a:extLst>
              <a:ext uri="{FF2B5EF4-FFF2-40B4-BE49-F238E27FC236}">
                <a16:creationId xmlns:a16="http://schemas.microsoft.com/office/drawing/2014/main" id="{E92E3AB4-CA2B-2947-A479-6006EC506B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Footer">
            <a:extLst>
              <a:ext uri="{FF2B5EF4-FFF2-40B4-BE49-F238E27FC236}">
                <a16:creationId xmlns:a16="http://schemas.microsoft.com/office/drawing/2014/main" id="{094BB478-39FC-BC45-B020-64CE083CBD8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endParaRPr lang="en-US" dirty="0"/>
          </a:p>
        </p:txBody>
      </p:sp>
      <p:sp>
        <p:nvSpPr>
          <p:cNvPr id="13" name="Slide Number">
            <a:extLst>
              <a:ext uri="{FF2B5EF4-FFF2-40B4-BE49-F238E27FC236}">
                <a16:creationId xmlns:a16="http://schemas.microsoft.com/office/drawing/2014/main" id="{AA183BAF-A3AC-2441-881F-3E02660F877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dirty="0"/>
          </a:p>
        </p:txBody>
      </p:sp>
      <p:cxnSp>
        <p:nvCxnSpPr>
          <p:cNvPr id="14" name="Accent Mark">
            <a:extLst>
              <a:ext uri="{FF2B5EF4-FFF2-40B4-BE49-F238E27FC236}">
                <a16:creationId xmlns:a16="http://schemas.microsoft.com/office/drawing/2014/main" id="{034E11FD-0B1E-6B44-8BDF-4C70FAA7BAAB}"/>
              </a:ext>
            </a:extLst>
          </p:cNvPr>
          <p:cNvCxnSpPr>
            <a:cxnSpLocks/>
          </p:cNvCxnSpPr>
          <p:nvPr userDrawn="1"/>
        </p:nvCxnSpPr>
        <p:spPr>
          <a:xfrm flipH="1">
            <a:off x="768095" y="158495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4" name="Title">
            <a:extLst>
              <a:ext uri="{FF2B5EF4-FFF2-40B4-BE49-F238E27FC236}">
                <a16:creationId xmlns:a16="http://schemas.microsoft.com/office/drawing/2014/main" id="{8CF093CC-9165-2740-A9A1-C2DF5C8D69CB}"/>
              </a:ext>
            </a:extLst>
          </p:cNvPr>
          <p:cNvSpPr>
            <a:spLocks noGrp="1"/>
          </p:cNvSpPr>
          <p:nvPr>
            <p:ph type="body" sz="quarter" idx="10" hasCustomPrompt="1"/>
          </p:nvPr>
        </p:nvSpPr>
        <p:spPr>
          <a:xfrm>
            <a:off x="762000" y="508000"/>
            <a:ext cx="10671048" cy="822960"/>
          </a:xfrm>
        </p:spPr>
        <p:txBody>
          <a:bodyPr anchor="b" anchorCtr="0"/>
          <a:lstStyle>
            <a:lvl1pPr>
              <a:defRPr sz="2400" b="1"/>
            </a:lvl1pPr>
          </a:lstStyle>
          <a:p>
            <a:pPr lvl="0"/>
            <a:r>
              <a:rPr lang="en-US" dirty="0"/>
              <a:t>Title</a:t>
            </a:r>
          </a:p>
        </p:txBody>
      </p:sp>
      <p:pic>
        <p:nvPicPr>
          <p:cNvPr id="10" name="Abstract Pattern Strip">
            <a:extLst>
              <a:ext uri="{FF2B5EF4-FFF2-40B4-BE49-F238E27FC236}">
                <a16:creationId xmlns:a16="http://schemas.microsoft.com/office/drawing/2014/main" id="{F8EAAC4E-E42A-FD43-B6C4-901DD6D0497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Tree>
    <p:extLst>
      <p:ext uri="{BB962C8B-B14F-4D97-AF65-F5344CB8AC3E}">
        <p14:creationId xmlns:p14="http://schemas.microsoft.com/office/powerpoint/2010/main" val="1665172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Light - Thank You">
    <p:bg>
      <p:bgPr>
        <a:solidFill>
          <a:schemeClr val="bg2"/>
        </a:solidFill>
        <a:effectLst/>
      </p:bgPr>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5" name="Footer">
            <a:extLst>
              <a:ext uri="{FF2B5EF4-FFF2-40B4-BE49-F238E27FC236}">
                <a16:creationId xmlns:a16="http://schemas.microsoft.com/office/drawing/2014/main" id="{AC796A58-6878-0644-885E-17721EE64E2C}"/>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endParaRPr lang="en-US" dirty="0"/>
          </a:p>
        </p:txBody>
      </p:sp>
      <p:sp>
        <p:nvSpPr>
          <p:cNvPr id="16" name="Slide Number">
            <a:extLst>
              <a:ext uri="{FF2B5EF4-FFF2-40B4-BE49-F238E27FC236}">
                <a16:creationId xmlns:a16="http://schemas.microsoft.com/office/drawing/2014/main" id="{D3FFBA5B-62FF-264E-B8E4-FF1CAC709E11}"/>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dirty="0"/>
          </a:p>
        </p:txBody>
      </p:sp>
      <p:sp>
        <p:nvSpPr>
          <p:cNvPr id="10" name="Text Field">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52453"/>
            <a:ext cx="5029200" cy="895181"/>
          </a:xfrm>
        </p:spPr>
        <p:txBody>
          <a:bodyPr>
            <a:noAutofit/>
          </a:bodyPr>
          <a:lstStyle>
            <a:lvl1pPr>
              <a:defRPr/>
            </a:lvl1pPr>
          </a:lstStyle>
          <a:p>
            <a:pPr lvl="0"/>
            <a:r>
              <a:rPr lang="en-US"/>
              <a:t>Click to edit Master text styles</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814860"/>
            <a:ext cx="5029200" cy="266291"/>
          </a:xfrm>
        </p:spPr>
        <p:txBody>
          <a:bodyPr>
            <a:noAutofit/>
          </a:bodyPr>
          <a:lstStyle>
            <a:lvl1pPr>
              <a:defRPr b="1"/>
            </a:lvl1pPr>
          </a:lstStyle>
          <a:p>
            <a:pPr lvl="0"/>
            <a:r>
              <a:rPr lang="en-US"/>
              <a:t>Click to edit Master text styles</a:t>
            </a:r>
          </a:p>
        </p:txBody>
      </p:sp>
      <p:cxnSp>
        <p:nvCxnSpPr>
          <p:cNvPr id="13" name="Accent Mark">
            <a:extLst>
              <a:ext uri="{FF2B5EF4-FFF2-40B4-BE49-F238E27FC236}">
                <a16:creationId xmlns:a16="http://schemas.microsoft.com/office/drawing/2014/main" id="{8E2FAFB4-C5ED-BC4A-844D-BB78D3D28B90}"/>
              </a:ext>
            </a:extLst>
          </p:cNvPr>
          <p:cNvCxnSpPr>
            <a:cxnSpLocks/>
          </p:cNvCxnSpPr>
          <p:nvPr userDrawn="1"/>
        </p:nvCxnSpPr>
        <p:spPr>
          <a:xfrm flipH="1">
            <a:off x="768098" y="456108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2" name="Thank You">
            <a:extLst>
              <a:ext uri="{FF2B5EF4-FFF2-40B4-BE49-F238E27FC236}">
                <a16:creationId xmlns:a16="http://schemas.microsoft.com/office/drawing/2014/main" id="{1A667D4A-FE6C-2E44-8B9A-7F595154584C}"/>
              </a:ext>
            </a:extLst>
          </p:cNvPr>
          <p:cNvSpPr>
            <a:spLocks noGrp="1"/>
          </p:cNvSpPr>
          <p:nvPr>
            <p:ph type="body" sz="quarter" idx="15" hasCustomPrompt="1"/>
          </p:nvPr>
        </p:nvSpPr>
        <p:spPr>
          <a:xfrm>
            <a:off x="762001" y="3814489"/>
            <a:ext cx="5029200" cy="492443"/>
          </a:xfrm>
          <a:prstGeom prst="rect">
            <a:avLst/>
          </a:prstGeom>
        </p:spPr>
        <p:txBody>
          <a:bodyPr lIns="0" anchor="b" anchorCtr="0">
            <a:noAutofit/>
          </a:bodyPr>
          <a:lstStyle>
            <a:lvl1pPr marL="0" indent="0" algn="l" fontAlgn="t">
              <a:lnSpc>
                <a:spcPct val="100000"/>
              </a:lnSpc>
              <a:spcBef>
                <a:spcPts val="0"/>
              </a:spcBef>
              <a:buNone/>
              <a:defRPr sz="3200" b="0" i="0">
                <a:latin typeface="+mj-lt"/>
                <a:cs typeface="Oracle Sans" panose="020B0503020204020204" pitchFamily="34" charset="0"/>
              </a:defRPr>
            </a:lvl1pPr>
          </a:lstStyle>
          <a:p>
            <a:pPr lvl="0"/>
            <a:r>
              <a:rPr lang="en-US" dirty="0"/>
              <a:t>Thank you</a:t>
            </a:r>
          </a:p>
        </p:txBody>
      </p:sp>
    </p:spTree>
    <p:extLst>
      <p:ext uri="{BB962C8B-B14F-4D97-AF65-F5344CB8AC3E}">
        <p14:creationId xmlns:p14="http://schemas.microsoft.com/office/powerpoint/2010/main" val="1413839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ight - Numbered Outline 2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rgbClr val="CC4520"/>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rgbClr val="CC4520"/>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302347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D4889E-F4D9-44F5-A86F-ADD971D8E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BEFD5D-E90B-4877-A190-612924041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DD854A-8C5F-456F-889E-9712C38651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8C0B1A4-FD84-4683-8993-EE9C5B9906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6B69D3EF-567D-4DD8-8BDF-AE4D78DD85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D60D9-5372-5F40-9443-0F9AE5BDC3C8}" type="slidenum">
              <a:rPr lang="en-US" smtClean="0"/>
              <a:pPr/>
              <a:t>‹#›</a:t>
            </a:fld>
            <a:endParaRPr lang="en-US" dirty="0"/>
          </a:p>
        </p:txBody>
      </p:sp>
      <p:sp>
        <p:nvSpPr>
          <p:cNvPr id="7" name="Slide Number">
            <a:extLst>
              <a:ext uri="{FF2B5EF4-FFF2-40B4-BE49-F238E27FC236}">
                <a16:creationId xmlns:a16="http://schemas.microsoft.com/office/drawing/2014/main" id="{3DFEA0B9-386B-49AC-890A-166E3949E7FF}"/>
              </a:ext>
            </a:extLst>
          </p:cNvPr>
          <p:cNvSpPr txBox="1">
            <a:spLocks/>
          </p:cNvSpPr>
          <p:nvPr userDrawn="1"/>
        </p:nvSpPr>
        <p:spPr>
          <a:xfrm>
            <a:off x="762000" y="6057900"/>
            <a:ext cx="234696" cy="365760"/>
          </a:xfrm>
          <a:prstGeom prst="rect">
            <a:avLst/>
          </a:prstGeom>
        </p:spPr>
        <p:txBody>
          <a:bodyPr vert="horz" lIns="0" tIns="0" rIns="0" bIns="0" rtlCol="0" anchor="ctr"/>
          <a:lstStyle>
            <a:defPPr>
              <a:defRPr lang="en-US"/>
            </a:defPPr>
            <a:lvl1pPr marL="0" algn="l" defTabSz="914400" rtl="0" eaLnBrk="1" latinLnBrk="0" hangingPunct="1">
              <a:defRPr sz="1000" kern="1200">
                <a:solidFill>
                  <a:srgbClr val="8B858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TextBox 8">
            <a:extLst>
              <a:ext uri="{FF2B5EF4-FFF2-40B4-BE49-F238E27FC236}">
                <a16:creationId xmlns:a16="http://schemas.microsoft.com/office/drawing/2014/main" id="{4A87A25C-D29A-4D89-72DD-551F5374D0FB}"/>
              </a:ext>
            </a:extLst>
          </p:cNvPr>
          <p:cNvSpPr txBox="1"/>
          <p:nvPr userDrawn="1">
            <p:extLst>
              <p:ext uri="{1162E1C5-73C7-4A58-AE30-91384D911F3F}">
                <p184:classification xmlns:p184="http://schemas.microsoft.com/office/powerpoint/2018/4/main" val="ftr"/>
              </p:ext>
            </p:extLst>
          </p:nvPr>
        </p:nvSpPr>
        <p:spPr>
          <a:xfrm>
            <a:off x="63500" y="6642100"/>
            <a:ext cx="1543050"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Internal</a:t>
            </a:r>
          </a:p>
        </p:txBody>
      </p:sp>
    </p:spTree>
    <p:extLst>
      <p:ext uri="{BB962C8B-B14F-4D97-AF65-F5344CB8AC3E}">
        <p14:creationId xmlns:p14="http://schemas.microsoft.com/office/powerpoint/2010/main" val="4276920633"/>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745" r:id="rId13"/>
    <p:sldLayoutId id="2147483750" r:id="rId14"/>
    <p:sldLayoutId id="2147483754" r:id="rId15"/>
    <p:sldLayoutId id="2147483763" r:id="rId16"/>
    <p:sldLayoutId id="2147483933"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https://www.oracle.com/webfolder/dms/tb/images/tb-cloud-migration-1w500px-h676px.p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https://www.oracle.com/webfolder/dms/tb/images/tb-cloud-migration-1w500px-h676px.p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https://www.oracle.com/webfolder/dms/tb/images/tb-cloud-migration-1w500px-h676px.p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https://www.oracle.com/webfolder/dms/tb/images/tb-cloud-migration-1w500px-h676px.p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https://www.oracle.com/webfolder/dms/tb/images/tb-cloud-migration-1w500px-h676px.p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https://www.oracle.com/webfolder/dms/tb/images/tb-cloud-migration-1w500px-h676px.p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https://www.oracle.com/webfolder/dms/tb/images/tb-cloud-migration-1w500px-h676px.p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https://www.oracle.com/webfolder/dms/tb/images/tb-cloud-migration-1w500px-h676px.png"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https://www.oracle.com/webfolder/dms/tb/images/tb-cloud-migration-1w500px-h676px.png"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https://www.oracle.com/webfolder/dms/tb/images/tb-cloud-migration-1w500px-h676px.png" TargetMode="Externa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https://www.oracle.com/webfolder/dms/tb/images/tb-cloud-migration-1w500px-h676px.png"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https://www.oracle.com/webfolder/dms/tb/images/tb-cloud-migration-1w500px-h676px.pn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8AD28C8F-E502-4145-8B73-9A41B878349A}"/>
              </a:ext>
            </a:extLst>
          </p:cNvPr>
          <p:cNvSpPr>
            <a:spLocks noGrp="1"/>
          </p:cNvSpPr>
          <p:nvPr>
            <p:ph type="body" sz="quarter" idx="34"/>
          </p:nvPr>
        </p:nvSpPr>
        <p:spPr>
          <a:xfrm>
            <a:off x="-1691716" y="3995509"/>
            <a:ext cx="5077970" cy="1477070"/>
          </a:xfrm>
        </p:spPr>
        <p:txBody>
          <a:bodyPr/>
          <a:lstStyle/>
          <a:p>
            <a:endParaRPr lang="en-US" dirty="0"/>
          </a:p>
          <a:p>
            <a:endParaRPr lang="en-US" dirty="0"/>
          </a:p>
          <a:p>
            <a:endParaRPr lang="en-US" dirty="0"/>
          </a:p>
          <a:p>
            <a:endParaRPr lang="en-US" dirty="0"/>
          </a:p>
        </p:txBody>
      </p:sp>
      <p:sp>
        <p:nvSpPr>
          <p:cNvPr id="13" name="Text Placeholder 12"/>
          <p:cNvSpPr>
            <a:spLocks noGrp="1"/>
          </p:cNvSpPr>
          <p:nvPr>
            <p:ph type="body" sz="quarter" idx="33"/>
          </p:nvPr>
        </p:nvSpPr>
        <p:spPr>
          <a:xfrm>
            <a:off x="1385740" y="3921552"/>
            <a:ext cx="9788229" cy="2199930"/>
          </a:xfrm>
        </p:spPr>
        <p:txBody>
          <a:bodyPr/>
          <a:lstStyle/>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Team Members:                                                                                               Date:</a:t>
            </a:r>
          </a:p>
          <a:p>
            <a:pPr>
              <a:lnSpc>
                <a:spcPct val="100000"/>
              </a:lnSpc>
            </a:pPr>
            <a:r>
              <a:rPr lang="en-US" sz="1400" dirty="0">
                <a:solidFill>
                  <a:schemeClr val="tx1"/>
                </a:solidFill>
                <a:latin typeface="Times New Roman" panose="02020603050405020304" pitchFamily="18" charset="0"/>
                <a:cs typeface="Times New Roman" panose="02020603050405020304" pitchFamily="18" charset="0"/>
              </a:rPr>
              <a:t>Charan </a:t>
            </a:r>
            <a:r>
              <a:rPr lang="en-US" sz="1400" dirty="0" err="1">
                <a:solidFill>
                  <a:schemeClr val="tx1"/>
                </a:solidFill>
                <a:latin typeface="Times New Roman" panose="02020603050405020304" pitchFamily="18" charset="0"/>
                <a:cs typeface="Times New Roman" panose="02020603050405020304" pitchFamily="18" charset="0"/>
              </a:rPr>
              <a:t>Panuganti</a:t>
            </a:r>
            <a:r>
              <a:rPr lang="en-US" sz="1400" dirty="0">
                <a:solidFill>
                  <a:schemeClr val="tx1"/>
                </a:solidFill>
                <a:latin typeface="Times New Roman" panose="02020603050405020304" pitchFamily="18" charset="0"/>
                <a:cs typeface="Times New Roman" panose="02020603050405020304" pitchFamily="18" charset="0"/>
              </a:rPr>
              <a:t>                                                                                                                                  25-07-2025</a:t>
            </a:r>
          </a:p>
          <a:p>
            <a:pPr>
              <a:lnSpc>
                <a:spcPct val="100000"/>
              </a:lnSpc>
            </a:pPr>
            <a:r>
              <a:rPr lang="en-US" sz="1400" dirty="0">
                <a:solidFill>
                  <a:schemeClr val="tx1"/>
                </a:solidFill>
                <a:latin typeface="Times New Roman" panose="02020603050405020304" pitchFamily="18" charset="0"/>
                <a:cs typeface="Times New Roman" panose="02020603050405020304" pitchFamily="18" charset="0"/>
              </a:rPr>
              <a:t>Jyothi </a:t>
            </a:r>
            <a:r>
              <a:rPr lang="en-US" sz="1400" dirty="0" err="1">
                <a:solidFill>
                  <a:schemeClr val="tx1"/>
                </a:solidFill>
                <a:latin typeface="Times New Roman" panose="02020603050405020304" pitchFamily="18" charset="0"/>
                <a:cs typeface="Times New Roman" panose="02020603050405020304" pitchFamily="18" charset="0"/>
              </a:rPr>
              <a:t>Narsini</a:t>
            </a:r>
            <a:endParaRPr lang="en-US" sz="14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sz="1400" dirty="0" err="1">
                <a:solidFill>
                  <a:schemeClr val="tx1"/>
                </a:solidFill>
                <a:latin typeface="Times New Roman" panose="02020603050405020304" pitchFamily="18" charset="0"/>
                <a:cs typeface="Times New Roman" panose="02020603050405020304" pitchFamily="18" charset="0"/>
              </a:rPr>
              <a:t>Kanishk</a:t>
            </a:r>
            <a:r>
              <a:rPr lang="en-US" sz="1400" dirty="0">
                <a:solidFill>
                  <a:schemeClr val="tx1"/>
                </a:solidFill>
                <a:latin typeface="Times New Roman" panose="02020603050405020304" pitchFamily="18" charset="0"/>
                <a:cs typeface="Times New Roman" panose="02020603050405020304" pitchFamily="18" charset="0"/>
              </a:rPr>
              <a:t> Singh                                                                                                                                       </a:t>
            </a:r>
            <a:r>
              <a:rPr lang="en-US" sz="1800" b="1" dirty="0">
                <a:solidFill>
                  <a:schemeClr val="tx1"/>
                </a:solidFill>
                <a:latin typeface="Times New Roman" panose="02020603050405020304" pitchFamily="18" charset="0"/>
                <a:cs typeface="Times New Roman" panose="02020603050405020304" pitchFamily="18" charset="0"/>
              </a:rPr>
              <a:t>Batch Details:</a:t>
            </a:r>
          </a:p>
          <a:p>
            <a:pPr>
              <a:lnSpc>
                <a:spcPct val="100000"/>
              </a:lnSpc>
            </a:pPr>
            <a:r>
              <a:rPr lang="en-US" sz="1400" dirty="0">
                <a:solidFill>
                  <a:schemeClr val="tx1"/>
                </a:solidFill>
                <a:latin typeface="Times New Roman" panose="02020603050405020304" pitchFamily="18" charset="0"/>
                <a:cs typeface="Times New Roman" panose="02020603050405020304" pitchFamily="18" charset="0"/>
              </a:rPr>
              <a:t>Niyati Negi                                                                                                                                            Bangalore-Batch 3</a:t>
            </a:r>
          </a:p>
          <a:p>
            <a:pPr>
              <a:lnSpc>
                <a:spcPct val="100000"/>
              </a:lnSpc>
            </a:pPr>
            <a:r>
              <a:rPr lang="en-US" sz="1400" dirty="0">
                <a:solidFill>
                  <a:schemeClr val="tx1"/>
                </a:solidFill>
                <a:latin typeface="Times New Roman" panose="02020603050405020304" pitchFamily="18" charset="0"/>
                <a:cs typeface="Times New Roman" panose="02020603050405020304" pitchFamily="18" charset="0"/>
              </a:rPr>
              <a:t>Varsha </a:t>
            </a:r>
            <a:r>
              <a:rPr lang="en-US" sz="1400" dirty="0" err="1">
                <a:solidFill>
                  <a:schemeClr val="tx1"/>
                </a:solidFill>
                <a:latin typeface="Times New Roman" panose="02020603050405020304" pitchFamily="18" charset="0"/>
                <a:cs typeface="Times New Roman" panose="02020603050405020304" pitchFamily="18" charset="0"/>
              </a:rPr>
              <a:t>Teeratipally</a:t>
            </a:r>
            <a:endParaRPr lang="en-US" sz="1400"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800" b="1" dirty="0">
              <a:solidFill>
                <a:schemeClr val="tx1"/>
              </a:solidFill>
              <a:latin typeface="Georgia" panose="02040502050405020303" pitchFamily="18" charset="0"/>
              <a:cs typeface="Arial" panose="020B0604020202020204" pitchFamily="34" charset="0"/>
            </a:endParaRPr>
          </a:p>
        </p:txBody>
      </p:sp>
      <p:sp>
        <p:nvSpPr>
          <p:cNvPr id="14" name="Title 13"/>
          <p:cNvSpPr>
            <a:spLocks noGrp="1"/>
          </p:cNvSpPr>
          <p:nvPr>
            <p:ph type="ctrTitle"/>
          </p:nvPr>
        </p:nvSpPr>
        <p:spPr>
          <a:xfrm>
            <a:off x="1193521" y="1536569"/>
            <a:ext cx="10417602" cy="1018095"/>
          </a:xfrm>
        </p:spPr>
        <p:txBody>
          <a:bodyPr/>
          <a:lstStyle/>
          <a:p>
            <a:pPr algn="ctr"/>
            <a:r>
              <a:rPr lang="en-US" sz="3600" dirty="0">
                <a:latin typeface="Times New Roman" panose="02020603050405020304" pitchFamily="18" charset="0"/>
                <a:cs typeface="Times New Roman" panose="02020603050405020304" pitchFamily="18" charset="0"/>
              </a:rPr>
              <a:t>ASSET LIABILITY MANAGEMENT SYSTEM</a:t>
            </a:r>
          </a:p>
        </p:txBody>
      </p:sp>
    </p:spTree>
    <p:extLst>
      <p:ext uri="{BB962C8B-B14F-4D97-AF65-F5344CB8AC3E}">
        <p14:creationId xmlns:p14="http://schemas.microsoft.com/office/powerpoint/2010/main" val="4058850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2E1603C1-C3BA-DA6D-97E1-6BEB6C25E921}"/>
              </a:ext>
            </a:extLst>
          </p:cNvPr>
          <p:cNvSpPr>
            <a:spLocks noGrp="1"/>
          </p:cNvSpPr>
          <p:nvPr>
            <p:ph type="title"/>
          </p:nvPr>
        </p:nvSpPr>
        <p:spPr>
          <a:xfrm>
            <a:off x="-1392044" y="136525"/>
            <a:ext cx="10515600" cy="1325563"/>
          </a:xfrm>
        </p:spPr>
        <p:txBody>
          <a:bodyPr/>
          <a:lstStyle/>
          <a:p>
            <a:br>
              <a:rPr lang="en-IN" dirty="0"/>
            </a:br>
            <a:endParaRPr lang="en-IN" dirty="0"/>
          </a:p>
        </p:txBody>
      </p:sp>
      <p:sp>
        <p:nvSpPr>
          <p:cNvPr id="16" name="Content Placeholder 15">
            <a:extLst>
              <a:ext uri="{FF2B5EF4-FFF2-40B4-BE49-F238E27FC236}">
                <a16:creationId xmlns:a16="http://schemas.microsoft.com/office/drawing/2014/main" id="{223400D0-4537-FE4D-8BC9-3130172C2F7A}"/>
              </a:ext>
            </a:extLst>
          </p:cNvPr>
          <p:cNvSpPr>
            <a:spLocks noGrp="1"/>
          </p:cNvSpPr>
          <p:nvPr>
            <p:ph idx="1"/>
          </p:nvPr>
        </p:nvSpPr>
        <p:spPr>
          <a:xfrm>
            <a:off x="838200" y="807868"/>
            <a:ext cx="10515600" cy="5369095"/>
          </a:xfrm>
        </p:spPr>
        <p:txBody>
          <a:bodyPr>
            <a:normAutofit/>
          </a:bodyPr>
          <a:lstStyle/>
          <a:p>
            <a:pPr marL="457200" lvl="1" indent="0">
              <a:buNone/>
            </a:pPr>
            <a:r>
              <a:rPr lang="en-IN" sz="1800" b="1" u="sng" dirty="0">
                <a:latin typeface="Times New Roman" panose="02020603050405020304" pitchFamily="18" charset="0"/>
                <a:cs typeface="Times New Roman" panose="02020603050405020304" pitchFamily="18" charset="0"/>
              </a:rPr>
              <a:t> </a:t>
            </a:r>
            <a:r>
              <a:rPr lang="en-IN" sz="4000" b="1" u="sng" dirty="0">
                <a:latin typeface="Times New Roman" panose="02020603050405020304" pitchFamily="18" charset="0"/>
                <a:cs typeface="Times New Roman" panose="02020603050405020304" pitchFamily="18" charset="0"/>
              </a:rPr>
              <a:t>Agenda: </a:t>
            </a:r>
          </a:p>
          <a:p>
            <a:pPr marL="457200" lvl="1" indent="0">
              <a:buNone/>
            </a:pPr>
            <a:endParaRPr lang="en-IN" sz="4000" b="1" u="sng"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Problem Statement</a:t>
            </a:r>
          </a:p>
          <a:p>
            <a:pPr lvl="1"/>
            <a:r>
              <a:rPr lang="en-US" sz="1800" dirty="0">
                <a:latin typeface="Times New Roman" panose="02020603050405020304" pitchFamily="18" charset="0"/>
                <a:cs typeface="Times New Roman" panose="02020603050405020304" pitchFamily="18" charset="0"/>
              </a:rPr>
              <a:t>Objective</a:t>
            </a:r>
          </a:p>
          <a:p>
            <a:pPr lvl="1"/>
            <a:r>
              <a:rPr lang="en-US" sz="1800" dirty="0">
                <a:latin typeface="Times New Roman" panose="02020603050405020304" pitchFamily="18" charset="0"/>
                <a:cs typeface="Times New Roman" panose="02020603050405020304" pitchFamily="18" charset="0"/>
              </a:rPr>
              <a:t>Tools &amp; Technologies</a:t>
            </a:r>
          </a:p>
          <a:p>
            <a:pPr lvl="1"/>
            <a:r>
              <a:rPr lang="en-US" altLang="en-US" sz="1800" dirty="0">
                <a:latin typeface="Times New Roman" panose="02020603050405020304" pitchFamily="18" charset="0"/>
                <a:cs typeface="Times New Roman" panose="02020603050405020304" pitchFamily="18" charset="0"/>
              </a:rPr>
              <a:t>ALM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 Components </a:t>
            </a:r>
            <a:endParaRPr lang="en-US" sz="1800" dirty="0">
              <a:latin typeface="Times New Roman" panose="02020603050405020304" pitchFamily="18" charset="0"/>
              <a:cs typeface="Times New Roman" panose="02020603050405020304" pitchFamily="18" charset="0"/>
            </a:endParaRPr>
          </a:p>
          <a:p>
            <a:pPr lvl="1"/>
            <a:r>
              <a:rPr lang="en-US" altLang="en-US" sz="1800" dirty="0">
                <a:latin typeface="Times New Roman" panose="02020603050405020304" pitchFamily="18" charset="0"/>
                <a:cs typeface="Times New Roman" panose="02020603050405020304" pitchFamily="18" charset="0"/>
              </a:rPr>
              <a:t>System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Architecture</a:t>
            </a:r>
          </a:p>
          <a:p>
            <a:pPr lvl="1"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Implementation Details</a:t>
            </a:r>
          </a:p>
          <a:p>
            <a:pPr lvl="1"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Static Code Analysis Tools</a:t>
            </a:r>
          </a:p>
          <a:p>
            <a:pPr lvl="1"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Results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faced </a:t>
            </a:r>
          </a:p>
          <a:p>
            <a:pPr lvl="1"/>
            <a:r>
              <a:rPr lang="en-IN" sz="1800" dirty="0">
                <a:latin typeface="Times New Roman" panose="02020603050405020304" pitchFamily="18" charset="0"/>
                <a:cs typeface="Times New Roman" panose="02020603050405020304" pitchFamily="18" charset="0"/>
              </a:rPr>
              <a:t>Learnings &amp; Takeaways </a:t>
            </a:r>
          </a:p>
          <a:p>
            <a:pPr marL="457200" lvl="1" indent="0">
              <a:buNone/>
            </a:pPr>
            <a:endParaRPr lang="en-IN" sz="1600" dirty="0">
              <a:latin typeface="Georgia" panose="02040502050405020303" pitchFamily="18" charset="0"/>
              <a:cs typeface="Arial" panose="020B0604020202020204" pitchFamily="34" charset="0"/>
            </a:endParaRPr>
          </a:p>
        </p:txBody>
      </p:sp>
      <p:sp>
        <p:nvSpPr>
          <p:cNvPr id="6" name="Footer Placeholder 5">
            <a:extLst>
              <a:ext uri="{FF2B5EF4-FFF2-40B4-BE49-F238E27FC236}">
                <a16:creationId xmlns:a16="http://schemas.microsoft.com/office/drawing/2014/main" id="{8B720E77-382F-9DAB-E46D-10D0A1D8A3AA}"/>
              </a:ext>
            </a:extLst>
          </p:cNvPr>
          <p:cNvSpPr>
            <a:spLocks noGrp="1"/>
          </p:cNvSpPr>
          <p:nvPr>
            <p:ph type="ftr" sz="quarter" idx="11"/>
          </p:nvPr>
        </p:nvSpPr>
        <p:spPr>
          <a:xfrm>
            <a:off x="977462" y="6273333"/>
            <a:ext cx="6529552" cy="448142"/>
          </a:xfrm>
        </p:spPr>
        <p:txBody>
          <a:bodyPr/>
          <a:lstStyle/>
          <a:p>
            <a:r>
              <a:rPr lang="en-US" dirty="0"/>
              <a:t>Copyright © 2025, Oracle and/or its affiliates  |  Confidential: Internal/Restricted/Highly Restricted</a:t>
            </a:r>
          </a:p>
        </p:txBody>
      </p:sp>
      <p:sp>
        <p:nvSpPr>
          <p:cNvPr id="5" name="Slide Number Placeholder 4"/>
          <p:cNvSpPr>
            <a:spLocks noGrp="1"/>
          </p:cNvSpPr>
          <p:nvPr>
            <p:ph type="sldNum" sz="quarter" idx="12"/>
          </p:nvPr>
        </p:nvSpPr>
        <p:spPr>
          <a:xfrm>
            <a:off x="8610600" y="6175375"/>
            <a:ext cx="2743200" cy="365125"/>
          </a:xfrm>
        </p:spPr>
        <p:txBody>
          <a:bodyPr/>
          <a:lstStyle/>
          <a:p>
            <a:fld id="{345D60D9-5372-5F40-9443-0F9AE5BDC3C8}" type="slidenum">
              <a:rPr lang="en-US" smtClean="0"/>
              <a:pPr/>
              <a:t>2</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5985543"/>
            <a:ext cx="2954344" cy="891309"/>
          </a:xfrm>
          <a:prstGeom prst="rect">
            <a:avLst/>
          </a:prstGeom>
        </p:spPr>
      </p:pic>
      <p:pic>
        <p:nvPicPr>
          <p:cNvPr id="15" name="Picture 14" descr="Image">
            <a:extLst>
              <a:ext uri="{FF2B5EF4-FFF2-40B4-BE49-F238E27FC236}">
                <a16:creationId xmlns:a16="http://schemas.microsoft.com/office/drawing/2014/main" id="{FAFAC366-765A-5EF0-914B-207D4D96A8EC}"/>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56561"/>
            <a:ext cx="1436370" cy="1755336"/>
          </a:xfrm>
          <a:prstGeom prst="rect">
            <a:avLst/>
          </a:prstGeom>
          <a:noFill/>
          <a:ln>
            <a:noFill/>
          </a:ln>
        </p:spPr>
      </p:pic>
      <p:sp>
        <p:nvSpPr>
          <p:cNvPr id="3" name="Rectangle 2">
            <a:extLst>
              <a:ext uri="{FF2B5EF4-FFF2-40B4-BE49-F238E27FC236}">
                <a16:creationId xmlns:a16="http://schemas.microsoft.com/office/drawing/2014/main" id="{D9532BF0-A84E-B9BB-B683-6A42AD643220}"/>
              </a:ext>
            </a:extLst>
          </p:cNvPr>
          <p:cNvSpPr>
            <a:spLocks noChangeArrowheads="1"/>
          </p:cNvSpPr>
          <p:nvPr/>
        </p:nvSpPr>
        <p:spPr bwMode="auto">
          <a:xfrm>
            <a:off x="0" y="43934"/>
            <a:ext cx="5020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2" name="Picture 1" descr="Image">
            <a:extLst>
              <a:ext uri="{FF2B5EF4-FFF2-40B4-BE49-F238E27FC236}">
                <a16:creationId xmlns:a16="http://schemas.microsoft.com/office/drawing/2014/main" id="{DC6DBF08-3157-81A4-FF32-4FB25F4E4EB8}"/>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0"/>
            <a:ext cx="1436370" cy="1755336"/>
          </a:xfrm>
          <a:prstGeom prst="rect">
            <a:avLst/>
          </a:prstGeom>
          <a:noFill/>
          <a:ln>
            <a:noFill/>
          </a:ln>
        </p:spPr>
      </p:pic>
      <p:pic>
        <p:nvPicPr>
          <p:cNvPr id="4" name="Picture 3" descr="Image">
            <a:extLst>
              <a:ext uri="{FF2B5EF4-FFF2-40B4-BE49-F238E27FC236}">
                <a16:creationId xmlns:a16="http://schemas.microsoft.com/office/drawing/2014/main" id="{FA0DCA0C-2797-9B1F-5B8D-61B70BE35B8E}"/>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91086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2E1603C1-C3BA-DA6D-97E1-6BEB6C25E921}"/>
              </a:ext>
            </a:extLst>
          </p:cNvPr>
          <p:cNvSpPr>
            <a:spLocks noGrp="1"/>
          </p:cNvSpPr>
          <p:nvPr>
            <p:ph type="title"/>
          </p:nvPr>
        </p:nvSpPr>
        <p:spPr>
          <a:xfrm>
            <a:off x="-1392044" y="110216"/>
            <a:ext cx="10515600" cy="1325563"/>
          </a:xfrm>
        </p:spPr>
        <p:txBody>
          <a:bodyPr/>
          <a:lstStyle/>
          <a:p>
            <a:br>
              <a:rPr lang="en-IN" dirty="0"/>
            </a:br>
            <a:endParaRPr lang="en-IN" dirty="0"/>
          </a:p>
        </p:txBody>
      </p:sp>
      <p:sp>
        <p:nvSpPr>
          <p:cNvPr id="16" name="Content Placeholder 15">
            <a:extLst>
              <a:ext uri="{FF2B5EF4-FFF2-40B4-BE49-F238E27FC236}">
                <a16:creationId xmlns:a16="http://schemas.microsoft.com/office/drawing/2014/main" id="{223400D0-4537-FE4D-8BC9-3130172C2F7A}"/>
              </a:ext>
            </a:extLst>
          </p:cNvPr>
          <p:cNvSpPr>
            <a:spLocks noGrp="1"/>
          </p:cNvSpPr>
          <p:nvPr>
            <p:ph idx="1"/>
          </p:nvPr>
        </p:nvSpPr>
        <p:spPr>
          <a:xfrm>
            <a:off x="90563" y="772997"/>
            <a:ext cx="7550385" cy="891309"/>
          </a:xfrm>
        </p:spPr>
        <p:txBody>
          <a:bodyPr>
            <a:normAutofit/>
          </a:bodyPr>
          <a:lstStyle/>
          <a:p>
            <a:pPr marL="457200" lvl="1" indent="0">
              <a:buNone/>
            </a:pPr>
            <a:r>
              <a:rPr lang="en-US" sz="3200" b="1" dirty="0">
                <a:latin typeface="Georgia" panose="02040502050405020303" pitchFamily="18" charset="0"/>
                <a:cs typeface="Arial" panose="020B0604020202020204" pitchFamily="34" charset="0"/>
              </a:rPr>
              <a:t> </a:t>
            </a:r>
            <a:r>
              <a:rPr lang="en-US" sz="4000" b="1" u="sng" dirty="0">
                <a:latin typeface="Times New Roman" panose="02020603050405020304" pitchFamily="18" charset="0"/>
                <a:cs typeface="Times New Roman" panose="02020603050405020304" pitchFamily="18" charset="0"/>
              </a:rPr>
              <a:t>Problem statement</a:t>
            </a:r>
          </a:p>
          <a:p>
            <a:pPr marL="457200" lvl="1" indent="0">
              <a:buNone/>
            </a:pPr>
            <a:endParaRPr lang="en-IN" sz="1800" dirty="0">
              <a:latin typeface="Georgia" panose="02040502050405020303" pitchFamily="18" charset="0"/>
              <a:cs typeface="Arial" panose="020B0604020202020204" pitchFamily="34" charset="0"/>
            </a:endParaRPr>
          </a:p>
          <a:p>
            <a:pPr marL="457200" lvl="1" indent="0">
              <a:buNone/>
            </a:pPr>
            <a:endParaRPr lang="en-IN" sz="1800" dirty="0">
              <a:latin typeface="Georgia" panose="02040502050405020303" pitchFamily="18" charset="0"/>
              <a:cs typeface="Arial" panose="020B0604020202020204" pitchFamily="34" charset="0"/>
            </a:endParaRPr>
          </a:p>
          <a:p>
            <a:pPr marL="457200" lvl="1" indent="0">
              <a:buNone/>
            </a:pPr>
            <a:endParaRPr lang="en-IN" sz="1800" dirty="0">
              <a:latin typeface="Georgia" panose="02040502050405020303" pitchFamily="18" charset="0"/>
              <a:cs typeface="Arial" panose="020B0604020202020204" pitchFamily="34" charset="0"/>
            </a:endParaRPr>
          </a:p>
          <a:p>
            <a:pPr marL="457200" lvl="1" indent="0">
              <a:buNone/>
            </a:pPr>
            <a:endParaRPr lang="en-IN" sz="1800" dirty="0">
              <a:latin typeface="Georgia" panose="02040502050405020303" pitchFamily="18" charset="0"/>
              <a:cs typeface="Arial" panose="020B0604020202020204" pitchFamily="34" charset="0"/>
            </a:endParaRPr>
          </a:p>
        </p:txBody>
      </p:sp>
      <p:sp>
        <p:nvSpPr>
          <p:cNvPr id="6" name="Footer Placeholder 5">
            <a:extLst>
              <a:ext uri="{FF2B5EF4-FFF2-40B4-BE49-F238E27FC236}">
                <a16:creationId xmlns:a16="http://schemas.microsoft.com/office/drawing/2014/main" id="{8B720E77-382F-9DAB-E46D-10D0A1D8A3AA}"/>
              </a:ext>
            </a:extLst>
          </p:cNvPr>
          <p:cNvSpPr>
            <a:spLocks noGrp="1"/>
          </p:cNvSpPr>
          <p:nvPr>
            <p:ph type="ftr" sz="quarter" idx="11"/>
          </p:nvPr>
        </p:nvSpPr>
        <p:spPr>
          <a:xfrm>
            <a:off x="977462" y="6273333"/>
            <a:ext cx="6529552" cy="448142"/>
          </a:xfrm>
        </p:spPr>
        <p:txBody>
          <a:bodyPr/>
          <a:lstStyle/>
          <a:p>
            <a:r>
              <a:rPr lang="en-US" dirty="0"/>
              <a:t>Copyright © 2025, Oracle and/or its affiliates  |  Confidential: Internal/Restricted/Highly Restricted</a:t>
            </a:r>
          </a:p>
        </p:txBody>
      </p:sp>
      <p:sp>
        <p:nvSpPr>
          <p:cNvPr id="5" name="Slide Number Placeholder 4"/>
          <p:cNvSpPr>
            <a:spLocks noGrp="1"/>
          </p:cNvSpPr>
          <p:nvPr>
            <p:ph type="sldNum" sz="quarter" idx="12"/>
          </p:nvPr>
        </p:nvSpPr>
        <p:spPr>
          <a:xfrm>
            <a:off x="8610600" y="6175375"/>
            <a:ext cx="2743200" cy="365125"/>
          </a:xfrm>
        </p:spPr>
        <p:txBody>
          <a:bodyPr/>
          <a:lstStyle/>
          <a:p>
            <a:fld id="{345D60D9-5372-5F40-9443-0F9AE5BDC3C8}" type="slidenum">
              <a:rPr lang="en-US" smtClean="0"/>
              <a:pPr/>
              <a:t>3</a:t>
            </a:fld>
            <a:endParaRPr lang="en-US" dirty="0"/>
          </a:p>
        </p:txBody>
      </p:sp>
      <p:pic>
        <p:nvPicPr>
          <p:cNvPr id="15" name="Picture 14" descr="Image">
            <a:extLst>
              <a:ext uri="{FF2B5EF4-FFF2-40B4-BE49-F238E27FC236}">
                <a16:creationId xmlns:a16="http://schemas.microsoft.com/office/drawing/2014/main" id="{FAFAC366-765A-5EF0-914B-207D4D96A8EC}"/>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3" name="Rectangle 2">
            <a:extLst>
              <a:ext uri="{FF2B5EF4-FFF2-40B4-BE49-F238E27FC236}">
                <a16:creationId xmlns:a16="http://schemas.microsoft.com/office/drawing/2014/main" id="{D9532BF0-A84E-B9BB-B683-6A42AD643220}"/>
              </a:ext>
            </a:extLst>
          </p:cNvPr>
          <p:cNvSpPr>
            <a:spLocks noChangeArrowheads="1"/>
          </p:cNvSpPr>
          <p:nvPr/>
        </p:nvSpPr>
        <p:spPr bwMode="auto">
          <a:xfrm>
            <a:off x="0" y="43934"/>
            <a:ext cx="5020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Rectangle 3">
            <a:extLst>
              <a:ext uri="{FF2B5EF4-FFF2-40B4-BE49-F238E27FC236}">
                <a16:creationId xmlns:a16="http://schemas.microsoft.com/office/drawing/2014/main" id="{665BDEA7-C1BC-6798-7378-770AE2F1D3D1}"/>
              </a:ext>
            </a:extLst>
          </p:cNvPr>
          <p:cNvSpPr>
            <a:spLocks noChangeArrowheads="1"/>
          </p:cNvSpPr>
          <p:nvPr/>
        </p:nvSpPr>
        <p:spPr bwMode="auto">
          <a:xfrm>
            <a:off x="502061" y="1767877"/>
            <a:ext cx="740794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problem statement for the Asset Liability Management (ALM) System is to tackle the risks financial institutions face due to imbalances between assets and liabilities, which can lead to financial instability and reduced profitability. These imbalances expose institutions to vulnerabilities from interest rate volatility, insufficient liquidity, and currency fluctuations. The system must deliver capabilities to quantify and evaluate these risks by computing the gap between interest-sensitive assets and liabilities, assessing the profitability of interest-earning activities, analyzing how asset and liability values respond to interest rate shifts, estimating potential losses from market risks, monitoring cash flow disparities across time periods, and determining the capacity to cover debts with tangible assets, thereby supporting robust risk mitigation and strategic financial planning.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4">
            <a:extLst>
              <a:ext uri="{FF2B5EF4-FFF2-40B4-BE49-F238E27FC236}">
                <a16:creationId xmlns:a16="http://schemas.microsoft.com/office/drawing/2014/main" id="{9784553E-7108-89A4-DB66-594EF82FD172}"/>
              </a:ext>
            </a:extLst>
          </p:cNvPr>
          <p:cNvSpPr>
            <a:spLocks noChangeArrowheads="1"/>
          </p:cNvSpPr>
          <p:nvPr/>
        </p:nvSpPr>
        <p:spPr bwMode="auto">
          <a:xfrm>
            <a:off x="152400" y="152400"/>
            <a:ext cx="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 name="Picture 10" descr="A puzzle with words on it&#10;&#10;AI-generated content may be incorrect.">
            <a:extLst>
              <a:ext uri="{FF2B5EF4-FFF2-40B4-BE49-F238E27FC236}">
                <a16:creationId xmlns:a16="http://schemas.microsoft.com/office/drawing/2014/main" id="{C0CB0776-0764-CBA6-58FC-C54E077658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5261" y="2431093"/>
            <a:ext cx="2476500" cy="2806731"/>
          </a:xfrm>
          <a:prstGeom prst="rect">
            <a:avLst/>
          </a:prstGeom>
        </p:spPr>
      </p:pic>
      <p:pic>
        <p:nvPicPr>
          <p:cNvPr id="12" name="Picture 11">
            <a:extLst>
              <a:ext uri="{FF2B5EF4-FFF2-40B4-BE49-F238E27FC236}">
                <a16:creationId xmlns:a16="http://schemas.microsoft.com/office/drawing/2014/main" id="{953F1745-CA6B-ED6F-1504-0359D3871C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184" y="6455343"/>
            <a:ext cx="2233010" cy="448142"/>
          </a:xfrm>
          <a:prstGeom prst="rect">
            <a:avLst/>
          </a:prstGeom>
        </p:spPr>
      </p:pic>
      <p:pic>
        <p:nvPicPr>
          <p:cNvPr id="2" name="Picture 1" descr="Image">
            <a:extLst>
              <a:ext uri="{FF2B5EF4-FFF2-40B4-BE49-F238E27FC236}">
                <a16:creationId xmlns:a16="http://schemas.microsoft.com/office/drawing/2014/main" id="{4D46D175-4EB5-5170-BA72-D3ED15E04F09}"/>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0"/>
            <a:ext cx="1436370" cy="1629054"/>
          </a:xfrm>
          <a:prstGeom prst="rect">
            <a:avLst/>
          </a:prstGeom>
          <a:noFill/>
          <a:ln>
            <a:noFill/>
          </a:ln>
        </p:spPr>
      </p:pic>
    </p:spTree>
    <p:extLst>
      <p:ext uri="{BB962C8B-B14F-4D97-AF65-F5344CB8AC3E}">
        <p14:creationId xmlns:p14="http://schemas.microsoft.com/office/powerpoint/2010/main" val="85682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2E1603C1-C3BA-DA6D-97E1-6BEB6C25E921}"/>
              </a:ext>
            </a:extLst>
          </p:cNvPr>
          <p:cNvSpPr>
            <a:spLocks noGrp="1"/>
          </p:cNvSpPr>
          <p:nvPr>
            <p:ph type="title"/>
          </p:nvPr>
        </p:nvSpPr>
        <p:spPr>
          <a:xfrm>
            <a:off x="-1392044" y="110216"/>
            <a:ext cx="10515600" cy="1325563"/>
          </a:xfrm>
        </p:spPr>
        <p:txBody>
          <a:bodyPr/>
          <a:lstStyle/>
          <a:p>
            <a:br>
              <a:rPr lang="en-IN" dirty="0"/>
            </a:br>
            <a:endParaRPr lang="en-IN" dirty="0"/>
          </a:p>
        </p:txBody>
      </p:sp>
      <p:sp>
        <p:nvSpPr>
          <p:cNvPr id="16" name="Content Placeholder 15">
            <a:extLst>
              <a:ext uri="{FF2B5EF4-FFF2-40B4-BE49-F238E27FC236}">
                <a16:creationId xmlns:a16="http://schemas.microsoft.com/office/drawing/2014/main" id="{223400D0-4537-FE4D-8BC9-3130172C2F7A}"/>
              </a:ext>
            </a:extLst>
          </p:cNvPr>
          <p:cNvSpPr>
            <a:spLocks noGrp="1"/>
          </p:cNvSpPr>
          <p:nvPr>
            <p:ph idx="1"/>
          </p:nvPr>
        </p:nvSpPr>
        <p:spPr>
          <a:xfrm>
            <a:off x="195851" y="375727"/>
            <a:ext cx="10515600" cy="600712"/>
          </a:xfrm>
        </p:spPr>
        <p:txBody>
          <a:bodyPr>
            <a:normAutofit fontScale="92500" lnSpcReduction="10000"/>
          </a:bodyPr>
          <a:lstStyle/>
          <a:p>
            <a:pPr marL="457200" lvl="1" indent="0">
              <a:buNone/>
            </a:pPr>
            <a:r>
              <a:rPr lang="en-US" sz="4300" b="1" u="sng" dirty="0">
                <a:latin typeface="Times New Roman" panose="02020603050405020304" pitchFamily="18" charset="0"/>
                <a:ea typeface="+mj-ea"/>
                <a:cs typeface="Times New Roman" panose="02020603050405020304" pitchFamily="18" charset="0"/>
              </a:rPr>
              <a:t>Objective</a:t>
            </a:r>
            <a:endParaRPr lang="en-IN" sz="4300" b="1" u="sng" dirty="0">
              <a:latin typeface="Times New Roman" panose="02020603050405020304" pitchFamily="18" charset="0"/>
              <a:ea typeface="+mj-ea"/>
              <a:cs typeface="Times New Roman" panose="02020603050405020304" pitchFamily="18" charset="0"/>
            </a:endParaRPr>
          </a:p>
          <a:p>
            <a:pPr marL="457200" lvl="1" indent="0">
              <a:buNone/>
            </a:pPr>
            <a:endParaRPr lang="en-IN" sz="1800" dirty="0">
              <a:latin typeface="Georgia" panose="02040502050405020303" pitchFamily="18" charset="0"/>
              <a:cs typeface="Arial" panose="020B0604020202020204" pitchFamily="34" charset="0"/>
            </a:endParaRPr>
          </a:p>
          <a:p>
            <a:pPr marL="457200" lvl="1" indent="0">
              <a:buNone/>
            </a:pPr>
            <a:endParaRPr lang="en-IN" sz="1800" dirty="0">
              <a:latin typeface="Georgia" panose="02040502050405020303" pitchFamily="18" charset="0"/>
              <a:cs typeface="Arial" panose="020B0604020202020204" pitchFamily="34" charset="0"/>
            </a:endParaRPr>
          </a:p>
        </p:txBody>
      </p:sp>
      <p:sp>
        <p:nvSpPr>
          <p:cNvPr id="6" name="Footer Placeholder 5">
            <a:extLst>
              <a:ext uri="{FF2B5EF4-FFF2-40B4-BE49-F238E27FC236}">
                <a16:creationId xmlns:a16="http://schemas.microsoft.com/office/drawing/2014/main" id="{8B720E77-382F-9DAB-E46D-10D0A1D8A3AA}"/>
              </a:ext>
            </a:extLst>
          </p:cNvPr>
          <p:cNvSpPr>
            <a:spLocks noGrp="1"/>
          </p:cNvSpPr>
          <p:nvPr>
            <p:ph type="ftr" sz="quarter" idx="11"/>
          </p:nvPr>
        </p:nvSpPr>
        <p:spPr>
          <a:xfrm>
            <a:off x="977462" y="6273333"/>
            <a:ext cx="6529552" cy="448142"/>
          </a:xfrm>
        </p:spPr>
        <p:txBody>
          <a:bodyPr/>
          <a:lstStyle/>
          <a:p>
            <a:r>
              <a:rPr lang="en-US" dirty="0"/>
              <a:t>Copyright © 2025, Oracle and/or its affiliates  |  Confidential: Internal/Restricted/Highly Restricted</a:t>
            </a:r>
          </a:p>
        </p:txBody>
      </p:sp>
      <p:sp>
        <p:nvSpPr>
          <p:cNvPr id="5" name="Slide Number Placeholder 4"/>
          <p:cNvSpPr>
            <a:spLocks noGrp="1"/>
          </p:cNvSpPr>
          <p:nvPr>
            <p:ph type="sldNum" sz="quarter" idx="12"/>
          </p:nvPr>
        </p:nvSpPr>
        <p:spPr>
          <a:xfrm>
            <a:off x="8610600" y="6175375"/>
            <a:ext cx="2743200" cy="365125"/>
          </a:xfrm>
        </p:spPr>
        <p:txBody>
          <a:bodyPr/>
          <a:lstStyle/>
          <a:p>
            <a:fld id="{345D60D9-5372-5F40-9443-0F9AE5BDC3C8}" type="slidenum">
              <a:rPr lang="en-US" smtClean="0"/>
              <a:pPr/>
              <a:t>4</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455343"/>
            <a:ext cx="2233010" cy="448142"/>
          </a:xfrm>
          <a:prstGeom prst="rect">
            <a:avLst/>
          </a:prstGeom>
        </p:spPr>
      </p:pic>
      <p:pic>
        <p:nvPicPr>
          <p:cNvPr id="15" name="Picture 14" descr="Image">
            <a:extLst>
              <a:ext uri="{FF2B5EF4-FFF2-40B4-BE49-F238E27FC236}">
                <a16:creationId xmlns:a16="http://schemas.microsoft.com/office/drawing/2014/main" id="{FAFAC366-765A-5EF0-914B-207D4D96A8EC}"/>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0"/>
            <a:ext cx="1436370" cy="1755336"/>
          </a:xfrm>
          <a:prstGeom prst="rect">
            <a:avLst/>
          </a:prstGeom>
          <a:noFill/>
          <a:ln>
            <a:noFill/>
          </a:ln>
        </p:spPr>
      </p:pic>
      <p:sp>
        <p:nvSpPr>
          <p:cNvPr id="3" name="Rectangle 2">
            <a:extLst>
              <a:ext uri="{FF2B5EF4-FFF2-40B4-BE49-F238E27FC236}">
                <a16:creationId xmlns:a16="http://schemas.microsoft.com/office/drawing/2014/main" id="{D9532BF0-A84E-B9BB-B683-6A42AD643220}"/>
              </a:ext>
            </a:extLst>
          </p:cNvPr>
          <p:cNvSpPr>
            <a:spLocks noChangeArrowheads="1"/>
          </p:cNvSpPr>
          <p:nvPr/>
        </p:nvSpPr>
        <p:spPr bwMode="auto">
          <a:xfrm>
            <a:off x="0" y="43934"/>
            <a:ext cx="5020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Rectangle 3">
            <a:extLst>
              <a:ext uri="{FF2B5EF4-FFF2-40B4-BE49-F238E27FC236}">
                <a16:creationId xmlns:a16="http://schemas.microsoft.com/office/drawing/2014/main" id="{665BDEA7-C1BC-6798-7378-770AE2F1D3D1}"/>
              </a:ext>
            </a:extLst>
          </p:cNvPr>
          <p:cNvSpPr>
            <a:spLocks noChangeArrowheads="1"/>
          </p:cNvSpPr>
          <p:nvPr/>
        </p:nvSpPr>
        <p:spPr bwMode="auto">
          <a:xfrm>
            <a:off x="251030" y="2706038"/>
            <a:ext cx="100569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9784553E-7108-89A4-DB66-594EF82FD172}"/>
              </a:ext>
            </a:extLst>
          </p:cNvPr>
          <p:cNvSpPr>
            <a:spLocks noChangeArrowheads="1"/>
          </p:cNvSpPr>
          <p:nvPr/>
        </p:nvSpPr>
        <p:spPr bwMode="auto">
          <a:xfrm>
            <a:off x="152400" y="152400"/>
            <a:ext cx="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6BC9B73B-DD78-78EE-461D-2B3C34855263}"/>
              </a:ext>
            </a:extLst>
          </p:cNvPr>
          <p:cNvSpPr>
            <a:spLocks noChangeArrowheads="1"/>
          </p:cNvSpPr>
          <p:nvPr/>
        </p:nvSpPr>
        <p:spPr bwMode="auto">
          <a:xfrm rot="10800000" flipV="1">
            <a:off x="512354" y="1002627"/>
            <a:ext cx="1117953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Comprehensive Inventory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detailed records of assets and liabilities by type, amount, interest rate, and maturity.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Metric Computation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calculation of: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 Analysis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 Interest Margin (NIM)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Duration Gap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Liquidity Gap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Asset Coverage Ratio</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Role-Based Access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authentication and authorization for Admins, Moderators, and Users.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&amp; Liquidity Assessment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market risks via time buckets,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liquidity trajectories.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Support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informed interest-rate and liquidity risk management through dashboards and alerts.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descr="Image">
            <a:extLst>
              <a:ext uri="{FF2B5EF4-FFF2-40B4-BE49-F238E27FC236}">
                <a16:creationId xmlns:a16="http://schemas.microsoft.com/office/drawing/2014/main" id="{60B45E8D-2C0C-3D2B-A653-5F4E3D28283F}"/>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3794364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9551-2F51-21D7-44ED-7EB5A2057BDE}"/>
              </a:ext>
            </a:extLst>
          </p:cNvPr>
          <p:cNvSpPr>
            <a:spLocks noGrp="1"/>
          </p:cNvSpPr>
          <p:nvPr>
            <p:ph type="title"/>
          </p:nvPr>
        </p:nvSpPr>
        <p:spPr/>
        <p:txBody>
          <a:bodyPr>
            <a:normAutofit/>
          </a:bodyPr>
          <a:lstStyle/>
          <a:p>
            <a:r>
              <a:rPr lang="en-IN" sz="4000" b="1" u="sng" dirty="0">
                <a:latin typeface="Times New Roman" panose="02020603050405020304" pitchFamily="18" charset="0"/>
                <a:cs typeface="Times New Roman" panose="02020603050405020304" pitchFamily="18" charset="0"/>
              </a:rPr>
              <a:t>Tools &amp; Technologies</a:t>
            </a:r>
            <a:endParaRPr lang="en-IN" sz="4000" u="sng"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42961FDA-41D8-B2A4-C6F1-2E4F49069871}"/>
              </a:ext>
            </a:extLst>
          </p:cNvPr>
          <p:cNvGraphicFramePr>
            <a:graphicFrameLocks noGrp="1"/>
          </p:cNvGraphicFramePr>
          <p:nvPr>
            <p:ph idx="1"/>
            <p:extLst>
              <p:ext uri="{D42A27DB-BD31-4B8C-83A1-F6EECF244321}">
                <p14:modId xmlns:p14="http://schemas.microsoft.com/office/powerpoint/2010/main" val="3075040675"/>
              </p:ext>
            </p:extLst>
          </p:nvPr>
        </p:nvGraphicFramePr>
        <p:xfrm>
          <a:off x="1460249" y="1930385"/>
          <a:ext cx="8944992" cy="3969957"/>
        </p:xfrm>
        <a:graphic>
          <a:graphicData uri="http://schemas.openxmlformats.org/drawingml/2006/table">
            <a:tbl>
              <a:tblPr/>
              <a:tblGrid>
                <a:gridCol w="4472496">
                  <a:extLst>
                    <a:ext uri="{9D8B030D-6E8A-4147-A177-3AD203B41FA5}">
                      <a16:colId xmlns:a16="http://schemas.microsoft.com/office/drawing/2014/main" val="595955405"/>
                    </a:ext>
                  </a:extLst>
                </a:gridCol>
                <a:gridCol w="4472496">
                  <a:extLst>
                    <a:ext uri="{9D8B030D-6E8A-4147-A177-3AD203B41FA5}">
                      <a16:colId xmlns:a16="http://schemas.microsoft.com/office/drawing/2014/main" val="2219047626"/>
                    </a:ext>
                  </a:extLst>
                </a:gridCol>
              </a:tblGrid>
              <a:tr h="566273">
                <a:tc>
                  <a:txBody>
                    <a:bodyPr/>
                    <a:lstStyle/>
                    <a:p>
                      <a:r>
                        <a:rPr lang="en-IN" b="1" dirty="0">
                          <a:latin typeface="Times New Roman" panose="02020603050405020304" pitchFamily="18" charset="0"/>
                          <a:cs typeface="Times New Roman" panose="02020603050405020304" pitchFamily="18" charset="0"/>
                        </a:rPr>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latin typeface="Times New Roman" panose="02020603050405020304" pitchFamily="18" charset="0"/>
                          <a:cs typeface="Times New Roman" panose="02020603050405020304" pitchFamily="18" charset="0"/>
                        </a:rPr>
                        <a:t>Technologies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053059"/>
                  </a:ext>
                </a:extLst>
              </a:tr>
              <a:tr h="566273">
                <a:tc>
                  <a:txBody>
                    <a:bodyPr/>
                    <a:lstStyle/>
                    <a:p>
                      <a:pPr marL="0" algn="l" defTabSz="914400" rtl="0" eaLnBrk="1" latinLnBrk="0" hangingPunct="1">
                        <a:lnSpc>
                          <a:spcPct val="90000"/>
                        </a:lnSpc>
                        <a:spcBef>
                          <a:spcPct val="0"/>
                        </a:spcBef>
                        <a:buNone/>
                      </a:pPr>
                      <a:r>
                        <a:rPr lang="en-IN" sz="1800" b="0" kern="1200" dirty="0">
                          <a:solidFill>
                            <a:schemeClr val="tx1"/>
                          </a:solidFill>
                          <a:latin typeface="Times New Roman" panose="02020603050405020304" pitchFamily="18" charset="0"/>
                          <a:ea typeface="+mn-ea"/>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Java 17, Spring Boot 3.5.3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304400"/>
                  </a:ext>
                </a:extLst>
              </a:tr>
              <a:tr h="990978">
                <a:tc>
                  <a:txBody>
                    <a:bodyPr/>
                    <a:lstStyle/>
                    <a:p>
                      <a:r>
                        <a:rPr lang="en-IN" b="0" dirty="0">
                          <a:latin typeface="Times New Roman" panose="02020603050405020304" pitchFamily="18" charset="0"/>
                          <a:cs typeface="Times New Roman" panose="02020603050405020304" pitchFamily="18" charset="0"/>
                        </a:rPr>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MySQL 8.0 (users, assets, liabilities, income, market data, time buckets)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3983211"/>
                  </a:ext>
                </a:extLst>
              </a:tr>
              <a:tr h="566273">
                <a:tc>
                  <a:txBody>
                    <a:bodyPr/>
                    <a:lstStyle/>
                    <a:p>
                      <a:r>
                        <a:rPr lang="en-IN" b="0" dirty="0">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Oracle </a:t>
                      </a:r>
                      <a:r>
                        <a:rPr lang="en-US" dirty="0" err="1">
                          <a:latin typeface="Times New Roman" panose="02020603050405020304" pitchFamily="18" charset="0"/>
                          <a:cs typeface="Times New Roman" panose="02020603050405020304" pitchFamily="18" charset="0"/>
                        </a:rPr>
                        <a:t>Javascript</a:t>
                      </a:r>
                      <a:r>
                        <a:rPr lang="en-US" dirty="0">
                          <a:latin typeface="Times New Roman" panose="02020603050405020304" pitchFamily="18" charset="0"/>
                          <a:cs typeface="Times New Roman" panose="02020603050405020304" pitchFamily="18" charset="0"/>
                        </a:rPr>
                        <a:t> Extension Toolkit(OJET) v1 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925276"/>
                  </a:ext>
                </a:extLst>
              </a:tr>
              <a:tr h="566273">
                <a:tc>
                  <a:txBody>
                    <a:bodyPr/>
                    <a:lstStyle/>
                    <a:p>
                      <a:r>
                        <a:rPr lang="en-IN" b="0" dirty="0">
                          <a:latin typeface="Times New Roman" panose="02020603050405020304" pitchFamily="18" charset="0"/>
                          <a:cs typeface="Times New Roman" panose="02020603050405020304" pitchFamily="18" charset="0"/>
                        </a:rPr>
                        <a:t>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SpringToolSuite4, Maven 3, </a:t>
                      </a:r>
                      <a:r>
                        <a:rPr lang="en-IN" dirty="0" err="1">
                          <a:latin typeface="Times New Roman" panose="02020603050405020304" pitchFamily="18" charset="0"/>
                          <a:cs typeface="Times New Roman" panose="02020603050405020304" pitchFamily="18" charset="0"/>
                        </a:rPr>
                        <a:t>Postman,VS</a:t>
                      </a:r>
                      <a:r>
                        <a:rPr lang="en-IN" dirty="0">
                          <a:latin typeface="Times New Roman" panose="02020603050405020304" pitchFamily="18" charset="0"/>
                          <a:cs typeface="Times New Roman" panose="02020603050405020304" pitchFamily="18" charset="0"/>
                        </a:rPr>
                        <a:t>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8681744"/>
                  </a:ext>
                </a:extLst>
              </a:tr>
              <a:tr h="566273">
                <a:tc>
                  <a:txBody>
                    <a:bodyPr/>
                    <a:lstStyle/>
                    <a:p>
                      <a:r>
                        <a:rPr lang="en-IN" b="0" dirty="0">
                          <a:latin typeface="Times New Roman" panose="02020603050405020304" pitchFamily="18" charset="0"/>
                          <a:cs typeface="Times New Roman" panose="02020603050405020304" pitchFamily="18" charset="0"/>
                        </a:rPr>
                        <a:t>Reporting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PMD, </a:t>
                      </a:r>
                      <a:r>
                        <a:rPr lang="en-IN" dirty="0" err="1">
                          <a:latin typeface="Times New Roman" panose="02020603050405020304" pitchFamily="18" charset="0"/>
                          <a:cs typeface="Times New Roman" panose="02020603050405020304" pitchFamily="18" charset="0"/>
                        </a:rPr>
                        <a:t>Spotbugs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CheckStyle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532337"/>
                  </a:ext>
                </a:extLst>
              </a:tr>
            </a:tbl>
          </a:graphicData>
        </a:graphic>
      </p:graphicFrame>
      <p:sp>
        <p:nvSpPr>
          <p:cNvPr id="4" name="Footer Placeholder 3">
            <a:extLst>
              <a:ext uri="{FF2B5EF4-FFF2-40B4-BE49-F238E27FC236}">
                <a16:creationId xmlns:a16="http://schemas.microsoft.com/office/drawing/2014/main" id="{A44F7E9E-DAED-32FB-1C32-43F8048D703D}"/>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1BE50A58-A6FB-6BE1-49D1-A07534AAB348}"/>
              </a:ext>
            </a:extLst>
          </p:cNvPr>
          <p:cNvSpPr>
            <a:spLocks noGrp="1"/>
          </p:cNvSpPr>
          <p:nvPr>
            <p:ph type="sldNum" sz="quarter" idx="12"/>
          </p:nvPr>
        </p:nvSpPr>
        <p:spPr/>
        <p:txBody>
          <a:bodyPr/>
          <a:lstStyle/>
          <a:p>
            <a:fld id="{345D60D9-5372-5F40-9443-0F9AE5BDC3C8}" type="slidenum">
              <a:rPr lang="en-US" smtClean="0"/>
              <a:pPr/>
              <a:t>5</a:t>
            </a:fld>
            <a:endParaRPr lang="en-US" dirty="0"/>
          </a:p>
        </p:txBody>
      </p:sp>
      <p:pic>
        <p:nvPicPr>
          <p:cNvPr id="11" name="Picture 10" descr="Image">
            <a:extLst>
              <a:ext uri="{FF2B5EF4-FFF2-40B4-BE49-F238E27FC236}">
                <a16:creationId xmlns:a16="http://schemas.microsoft.com/office/drawing/2014/main" id="{C0BD7741-6A86-F7AA-4DF3-DA2F2DB9AA76}"/>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12" name="Picture 11">
            <a:extLst>
              <a:ext uri="{FF2B5EF4-FFF2-40B4-BE49-F238E27FC236}">
                <a16:creationId xmlns:a16="http://schemas.microsoft.com/office/drawing/2014/main" id="{9687BE89-E9B7-045A-2C2F-D90CAAF71C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356350"/>
            <a:ext cx="2233010" cy="545977"/>
          </a:xfrm>
          <a:prstGeom prst="rect">
            <a:avLst/>
          </a:prstGeom>
        </p:spPr>
      </p:pic>
      <p:pic>
        <p:nvPicPr>
          <p:cNvPr id="3" name="Picture 2" descr="Image">
            <a:extLst>
              <a:ext uri="{FF2B5EF4-FFF2-40B4-BE49-F238E27FC236}">
                <a16:creationId xmlns:a16="http://schemas.microsoft.com/office/drawing/2014/main" id="{8CC09C5E-BD1F-FF9A-473A-15248F7C52E6}"/>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05241" y="0"/>
            <a:ext cx="1436370" cy="1629054"/>
          </a:xfrm>
          <a:prstGeom prst="rect">
            <a:avLst/>
          </a:prstGeom>
          <a:noFill/>
          <a:ln>
            <a:noFill/>
          </a:ln>
        </p:spPr>
      </p:pic>
    </p:spTree>
    <p:extLst>
      <p:ext uri="{BB962C8B-B14F-4D97-AF65-F5344CB8AC3E}">
        <p14:creationId xmlns:p14="http://schemas.microsoft.com/office/powerpoint/2010/main" val="313220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9ABE-5873-1675-08CE-D93B09E3AE17}"/>
              </a:ext>
            </a:extLst>
          </p:cNvPr>
          <p:cNvSpPr>
            <a:spLocks noGrp="1"/>
          </p:cNvSpPr>
          <p:nvPr>
            <p:ph type="title"/>
          </p:nvPr>
        </p:nvSpPr>
        <p:spPr/>
        <p:txBody>
          <a:bodyPr/>
          <a:lstStyle/>
          <a:p>
            <a:r>
              <a:rPr lang="en-US" altLang="en-US" sz="4000" b="1" u="sng" dirty="0">
                <a:latin typeface="Times New Roman" panose="02020603050405020304" pitchFamily="18" charset="0"/>
                <a:cs typeface="Times New Roman" panose="02020603050405020304" pitchFamily="18" charset="0"/>
              </a:rPr>
              <a:t>ALM Service Components</a:t>
            </a:r>
            <a:br>
              <a:rPr kumimoji="0" lang="en-US" altLang="en-US" sz="4400" b="1" i="0" u="none" strike="noStrike" cap="none" normalizeH="0" baseline="0" dirty="0">
                <a:ln>
                  <a:noFill/>
                </a:ln>
                <a:solidFill>
                  <a:schemeClr val="tx1"/>
                </a:solidFill>
                <a:effectLst/>
                <a:latin typeface="Arial" panose="020B0604020202020204" pitchFamily="34" charset="0"/>
              </a:rPr>
            </a:br>
            <a:endParaRPr lang="en-IN" dirty="0"/>
          </a:p>
        </p:txBody>
      </p:sp>
      <p:sp>
        <p:nvSpPr>
          <p:cNvPr id="4" name="Footer Placeholder 3">
            <a:extLst>
              <a:ext uri="{FF2B5EF4-FFF2-40B4-BE49-F238E27FC236}">
                <a16:creationId xmlns:a16="http://schemas.microsoft.com/office/drawing/2014/main" id="{A48AA20E-6FB4-5F77-59B5-5BB07BA0EC19}"/>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C89A25BD-ADA5-E5D2-3786-435A01FE2F24}"/>
              </a:ext>
            </a:extLst>
          </p:cNvPr>
          <p:cNvSpPr>
            <a:spLocks noGrp="1"/>
          </p:cNvSpPr>
          <p:nvPr>
            <p:ph type="sldNum" sz="quarter" idx="12"/>
          </p:nvPr>
        </p:nvSpPr>
        <p:spPr/>
        <p:txBody>
          <a:bodyPr/>
          <a:lstStyle/>
          <a:p>
            <a:fld id="{345D60D9-5372-5F40-9443-0F9AE5BDC3C8}" type="slidenum">
              <a:rPr lang="en-US" smtClean="0"/>
              <a:pPr/>
              <a:t>6</a:t>
            </a:fld>
            <a:endParaRPr lang="en-US" dirty="0"/>
          </a:p>
        </p:txBody>
      </p:sp>
      <p:sp>
        <p:nvSpPr>
          <p:cNvPr id="6" name="Rectangle 1">
            <a:extLst>
              <a:ext uri="{FF2B5EF4-FFF2-40B4-BE49-F238E27FC236}">
                <a16:creationId xmlns:a16="http://schemas.microsoft.com/office/drawing/2014/main" id="{0561E049-74EC-AB87-3692-E2FA9AC3B910}"/>
              </a:ext>
            </a:extLst>
          </p:cNvPr>
          <p:cNvSpPr>
            <a:spLocks noGrp="1" noChangeArrowheads="1"/>
          </p:cNvSpPr>
          <p:nvPr>
            <p:ph idx="1"/>
          </p:nvPr>
        </p:nvSpPr>
        <p:spPr bwMode="auto">
          <a:xfrm>
            <a:off x="838201" y="1433762"/>
            <a:ext cx="808385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Asset Coverage Service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Asset Coverage Ratio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comparing asset values (minus intangibles) against liabilities and debt.</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Asset Service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CRUD operations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asset entities (create, read, update, list).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Duration Gap Service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Duration Gap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 – (DL × Liability/Asset ratio) to assess interest rate sensitivity.</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descr="Image">
            <a:extLst>
              <a:ext uri="{FF2B5EF4-FFF2-40B4-BE49-F238E27FC236}">
                <a16:creationId xmlns:a16="http://schemas.microsoft.com/office/drawing/2014/main" id="{29B9A818-329C-3296-4756-A68E2320D8C7}"/>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8" name="Picture 7">
            <a:extLst>
              <a:ext uri="{FF2B5EF4-FFF2-40B4-BE49-F238E27FC236}">
                <a16:creationId xmlns:a16="http://schemas.microsoft.com/office/drawing/2014/main" id="{C622E84E-4E62-B926-D6E2-51E3C60922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267635"/>
            <a:ext cx="2233010" cy="635850"/>
          </a:xfrm>
          <a:prstGeom prst="rect">
            <a:avLst/>
          </a:prstGeom>
        </p:spPr>
      </p:pic>
      <p:pic>
        <p:nvPicPr>
          <p:cNvPr id="3" name="Picture 2" descr="Image">
            <a:extLst>
              <a:ext uri="{FF2B5EF4-FFF2-40B4-BE49-F238E27FC236}">
                <a16:creationId xmlns:a16="http://schemas.microsoft.com/office/drawing/2014/main" id="{F98E37F3-1EFB-E641-0574-E2CAEB8C17CA}"/>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15115" y="0"/>
            <a:ext cx="1436370" cy="1629054"/>
          </a:xfrm>
          <a:prstGeom prst="rect">
            <a:avLst/>
          </a:prstGeom>
          <a:noFill/>
          <a:ln>
            <a:noFill/>
          </a:ln>
        </p:spPr>
      </p:pic>
    </p:spTree>
    <p:extLst>
      <p:ext uri="{BB962C8B-B14F-4D97-AF65-F5344CB8AC3E}">
        <p14:creationId xmlns:p14="http://schemas.microsoft.com/office/powerpoint/2010/main" val="1522780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607DDC-2892-84F9-D622-88629F6FA95E}"/>
              </a:ext>
            </a:extLst>
          </p:cNvPr>
          <p:cNvSpPr>
            <a:spLocks noGrp="1"/>
          </p:cNvSpPr>
          <p:nvPr>
            <p:ph idx="1"/>
          </p:nvPr>
        </p:nvSpPr>
        <p:spPr>
          <a:xfrm>
            <a:off x="838200" y="514905"/>
            <a:ext cx="9442142" cy="5653180"/>
          </a:xfrm>
        </p:spPr>
        <p:txBody>
          <a:bodyP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 Analysis Service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Executes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 Analysis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time buckets: RSA – RSL to identify liquidity mismatches.</a:t>
            </a:r>
          </a:p>
          <a:p>
            <a:pPr marL="457200" marR="0" lvl="1"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Liability Analysis Service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Manages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CRUD and analytics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liabilities, including maturity profiles and durations.</a:t>
            </a:r>
          </a:p>
          <a:p>
            <a:pPr marL="457200" marR="0" lvl="1"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Liquidity Gap Service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Liquidity Gap</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comparing maturing assets and liabilities per bucket.</a:t>
            </a:r>
          </a:p>
          <a:p>
            <a:pPr marL="457200" marR="0" lvl="1"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NIM Service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Determines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 Interest Margin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(Interest Income – Interest Expense) / Average Earning Assets</a:t>
            </a:r>
          </a:p>
          <a:p>
            <a:pPr marL="457200" marR="0" lvl="1" indent="0" algn="just" defTabSz="914400" rtl="0" eaLnBrk="0" fontAlgn="base" latinLnBrk="0" hangingPunct="0">
              <a:lnSpc>
                <a:spcPct val="100000"/>
              </a:lnSpc>
              <a:spcBef>
                <a:spcPct val="0"/>
              </a:spcBef>
              <a:spcAft>
                <a:spcPct val="0"/>
              </a:spcAft>
              <a:buClrTx/>
              <a:buSzTx/>
              <a:buNone/>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8"/>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VaR</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Service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Calculates </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Value at Risk (</a:t>
            </a:r>
            <a:r>
              <a:rPr kumimoji="0" lang="en-US" altLang="en-US" sz="19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VaR</a:t>
            </a: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portfolio holdings, market data, and confidence intervals.</a:t>
            </a:r>
          </a:p>
          <a:p>
            <a:endParaRPr lang="en-IN" dirty="0"/>
          </a:p>
        </p:txBody>
      </p:sp>
      <p:sp>
        <p:nvSpPr>
          <p:cNvPr id="4" name="Footer Placeholder 3">
            <a:extLst>
              <a:ext uri="{FF2B5EF4-FFF2-40B4-BE49-F238E27FC236}">
                <a16:creationId xmlns:a16="http://schemas.microsoft.com/office/drawing/2014/main" id="{33A5713F-D2DE-1E08-FB55-B9A1BB73EB2A}"/>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606051CC-B88A-1920-E65E-A80079183303}"/>
              </a:ext>
            </a:extLst>
          </p:cNvPr>
          <p:cNvSpPr>
            <a:spLocks noGrp="1"/>
          </p:cNvSpPr>
          <p:nvPr>
            <p:ph type="sldNum" sz="quarter" idx="12"/>
          </p:nvPr>
        </p:nvSpPr>
        <p:spPr/>
        <p:txBody>
          <a:bodyPr/>
          <a:lstStyle/>
          <a:p>
            <a:fld id="{345D60D9-5372-5F40-9443-0F9AE5BDC3C8}" type="slidenum">
              <a:rPr lang="en-US" smtClean="0"/>
              <a:pPr/>
              <a:t>7</a:t>
            </a:fld>
            <a:endParaRPr lang="en-US" dirty="0"/>
          </a:p>
        </p:txBody>
      </p:sp>
      <p:pic>
        <p:nvPicPr>
          <p:cNvPr id="6" name="Picture 5" descr="Image">
            <a:extLst>
              <a:ext uri="{FF2B5EF4-FFF2-40B4-BE49-F238E27FC236}">
                <a16:creationId xmlns:a16="http://schemas.microsoft.com/office/drawing/2014/main" id="{71E29865-78A8-A9A8-4D8A-EC88A021CDFE}"/>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7" name="Picture 6">
            <a:extLst>
              <a:ext uri="{FF2B5EF4-FFF2-40B4-BE49-F238E27FC236}">
                <a16:creationId xmlns:a16="http://schemas.microsoft.com/office/drawing/2014/main" id="{91BBB5A6-23C2-D73A-227F-3774243D36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2" name="Picture 1" descr="Image">
            <a:extLst>
              <a:ext uri="{FF2B5EF4-FFF2-40B4-BE49-F238E27FC236}">
                <a16:creationId xmlns:a16="http://schemas.microsoft.com/office/drawing/2014/main" id="{B4DCE8DD-1782-05AF-5B1C-BA228D97B209}"/>
              </a:ext>
            </a:extLst>
          </p:cNvPr>
          <p:cNvPicPr>
            <a:picLocks noChangeAspect="1"/>
          </p:cNvPicPr>
          <p:nvPr/>
        </p:nvPicPr>
        <p:blipFill>
          <a:blip r:link="rId2">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1170579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5E37-CF9D-D0ED-78BD-294E5FF90994}"/>
              </a:ext>
            </a:extLst>
          </p:cNvPr>
          <p:cNvSpPr>
            <a:spLocks noGrp="1"/>
          </p:cNvSpPr>
          <p:nvPr>
            <p:ph type="title"/>
          </p:nvPr>
        </p:nvSpPr>
        <p:spPr>
          <a:xfrm>
            <a:off x="838200" y="365125"/>
            <a:ext cx="10515600" cy="655807"/>
          </a:xfrm>
        </p:spPr>
        <p:txBody>
          <a:bodyPr>
            <a:normAutofit/>
          </a:bodyPr>
          <a:lstStyle/>
          <a:p>
            <a:r>
              <a:rPr lang="en-IN" sz="4000" b="1" u="sng" dirty="0">
                <a:latin typeface="Times New Roman" panose="02020603050405020304" pitchFamily="18" charset="0"/>
                <a:cs typeface="Times New Roman" panose="02020603050405020304" pitchFamily="18" charset="0"/>
              </a:rPr>
              <a:t>System Architecture</a:t>
            </a:r>
          </a:p>
        </p:txBody>
      </p:sp>
      <p:pic>
        <p:nvPicPr>
          <p:cNvPr id="7" name="Content Placeholder 6">
            <a:extLst>
              <a:ext uri="{FF2B5EF4-FFF2-40B4-BE49-F238E27FC236}">
                <a16:creationId xmlns:a16="http://schemas.microsoft.com/office/drawing/2014/main" id="{2713E6A3-6070-D3C9-9695-C30BE767D63C}"/>
              </a:ext>
            </a:extLst>
          </p:cNvPr>
          <p:cNvPicPr>
            <a:picLocks noGrp="1" noChangeAspect="1"/>
          </p:cNvPicPr>
          <p:nvPr>
            <p:ph idx="1"/>
          </p:nvPr>
        </p:nvPicPr>
        <p:blipFill>
          <a:blip r:embed="rId2"/>
          <a:stretch>
            <a:fillRect/>
          </a:stretch>
        </p:blipFill>
        <p:spPr>
          <a:xfrm>
            <a:off x="2503503" y="1487837"/>
            <a:ext cx="7625917" cy="4689126"/>
          </a:xfrm>
        </p:spPr>
      </p:pic>
      <p:sp>
        <p:nvSpPr>
          <p:cNvPr id="4" name="Footer Placeholder 3">
            <a:extLst>
              <a:ext uri="{FF2B5EF4-FFF2-40B4-BE49-F238E27FC236}">
                <a16:creationId xmlns:a16="http://schemas.microsoft.com/office/drawing/2014/main" id="{7DC5CE51-9CD5-4E27-C800-593267A42E4C}"/>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71DD82EC-4D9A-673B-D50D-C6F79141029F}"/>
              </a:ext>
            </a:extLst>
          </p:cNvPr>
          <p:cNvSpPr>
            <a:spLocks noGrp="1"/>
          </p:cNvSpPr>
          <p:nvPr>
            <p:ph type="sldNum" sz="quarter" idx="12"/>
          </p:nvPr>
        </p:nvSpPr>
        <p:spPr/>
        <p:txBody>
          <a:bodyPr/>
          <a:lstStyle/>
          <a:p>
            <a:fld id="{345D60D9-5372-5F40-9443-0F9AE5BDC3C8}" type="slidenum">
              <a:rPr lang="en-US" smtClean="0"/>
              <a:pPr/>
              <a:t>8</a:t>
            </a:fld>
            <a:endParaRPr lang="en-US" dirty="0"/>
          </a:p>
        </p:txBody>
      </p:sp>
      <p:pic>
        <p:nvPicPr>
          <p:cNvPr id="8" name="Picture 7">
            <a:extLst>
              <a:ext uri="{FF2B5EF4-FFF2-40B4-BE49-F238E27FC236}">
                <a16:creationId xmlns:a16="http://schemas.microsoft.com/office/drawing/2014/main" id="{8B97E614-75DE-55FA-7C5F-F391F4E022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9" name="Picture 8" descr="Image">
            <a:extLst>
              <a:ext uri="{FF2B5EF4-FFF2-40B4-BE49-F238E27FC236}">
                <a16:creationId xmlns:a16="http://schemas.microsoft.com/office/drawing/2014/main" id="{BBEB407F-A43E-6B99-373F-56DF5AF2E7FB}"/>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3" name="Picture 2" descr="Image">
            <a:extLst>
              <a:ext uri="{FF2B5EF4-FFF2-40B4-BE49-F238E27FC236}">
                <a16:creationId xmlns:a16="http://schemas.microsoft.com/office/drawing/2014/main" id="{050A8849-8D6C-0D10-0FEB-0F80102C9725}"/>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2541510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C81F-A6E8-CB8A-A192-E30D4A9C8534}"/>
              </a:ext>
            </a:extLst>
          </p:cNvPr>
          <p:cNvSpPr>
            <a:spLocks noGrp="1"/>
          </p:cNvSpPr>
          <p:nvPr>
            <p:ph type="title"/>
          </p:nvPr>
        </p:nvSpPr>
        <p:spPr>
          <a:xfrm>
            <a:off x="186431" y="-698064"/>
            <a:ext cx="11460332" cy="2118491"/>
          </a:xfrm>
        </p:spPr>
        <p:txBody>
          <a:bodyPr>
            <a:normAutofit/>
          </a:bodyPr>
          <a:lstStyle/>
          <a:p>
            <a:r>
              <a:rPr lang="en-IN" sz="4000" b="1" u="sng" dirty="0">
                <a:latin typeface="Times New Roman" panose="02020603050405020304" pitchFamily="18" charset="0"/>
                <a:cs typeface="Times New Roman" panose="02020603050405020304" pitchFamily="18" charset="0"/>
              </a:rPr>
              <a:t>Implementation Details</a:t>
            </a:r>
          </a:p>
        </p:txBody>
      </p:sp>
      <p:sp>
        <p:nvSpPr>
          <p:cNvPr id="4" name="Footer Placeholder 3">
            <a:extLst>
              <a:ext uri="{FF2B5EF4-FFF2-40B4-BE49-F238E27FC236}">
                <a16:creationId xmlns:a16="http://schemas.microsoft.com/office/drawing/2014/main" id="{353F969C-08C1-E52A-7C2C-34C58EB63C7B}"/>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9BD12147-0EE5-424A-B7F4-27F2F601EF6E}"/>
              </a:ext>
            </a:extLst>
          </p:cNvPr>
          <p:cNvSpPr>
            <a:spLocks noGrp="1"/>
          </p:cNvSpPr>
          <p:nvPr>
            <p:ph type="sldNum" sz="quarter" idx="12"/>
          </p:nvPr>
        </p:nvSpPr>
        <p:spPr/>
        <p:txBody>
          <a:bodyPr/>
          <a:lstStyle/>
          <a:p>
            <a:fld id="{345D60D9-5372-5F40-9443-0F9AE5BDC3C8}" type="slidenum">
              <a:rPr lang="en-US" smtClean="0"/>
              <a:pPr/>
              <a:t>9</a:t>
            </a:fld>
            <a:endParaRPr lang="en-US" dirty="0"/>
          </a:p>
        </p:txBody>
      </p:sp>
      <p:sp>
        <p:nvSpPr>
          <p:cNvPr id="6" name="Rectangle 1">
            <a:extLst>
              <a:ext uri="{FF2B5EF4-FFF2-40B4-BE49-F238E27FC236}">
                <a16:creationId xmlns:a16="http://schemas.microsoft.com/office/drawing/2014/main" id="{5B5CD72A-BEB4-8828-F5B1-22E372758594}"/>
              </a:ext>
            </a:extLst>
          </p:cNvPr>
          <p:cNvSpPr>
            <a:spLocks noGrp="1" noChangeArrowheads="1"/>
          </p:cNvSpPr>
          <p:nvPr>
            <p:ph idx="1"/>
          </p:nvPr>
        </p:nvSpPr>
        <p:spPr bwMode="auto">
          <a:xfrm>
            <a:off x="186431" y="607608"/>
            <a:ext cx="11647503"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Analysis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Defined essential ALM metrics and reporting needs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Design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schema: users, assets, liabilities,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income_statements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market_data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time_buckets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lang="en-US" altLang="en-US" sz="1800" dirty="0">
                <a:latin typeface="Times New Roman" panose="02020603050405020304" pitchFamily="18" charset="0"/>
                <a:cs typeface="Times New Roman" panose="02020603050405020304" pitchFamily="18" charset="0"/>
              </a:rPr>
              <a: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ySQL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Loaded dummy data using csv files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Development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Initialized Spring Boot project in STS4</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Defined entities, repositories, services, and controllers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Logic Services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 NIM, Duration Gap, Liquidity Gap, Asset Coverage services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time-bucket logic</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Development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interactive UI with dynamic charts illustrating key metrics using OJET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Utilized Postman to verify API behavior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Cross-checked ALM outputs against expected results</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Launched on local server (Tomcat with Spring Boot embedded)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robust JDBC connectivity to production-grade MySQL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A7C2A6CD-E29D-FF09-4491-87D0C7DB7C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0" name="Picture 9" descr="Image">
            <a:extLst>
              <a:ext uri="{FF2B5EF4-FFF2-40B4-BE49-F238E27FC236}">
                <a16:creationId xmlns:a16="http://schemas.microsoft.com/office/drawing/2014/main" id="{89AE5A6F-1E17-63EF-AD09-45431F34F20F}"/>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3" name="Picture 2" descr="Image">
            <a:extLst>
              <a:ext uri="{FF2B5EF4-FFF2-40B4-BE49-F238E27FC236}">
                <a16:creationId xmlns:a16="http://schemas.microsoft.com/office/drawing/2014/main" id="{8676D38B-8BAD-E835-23FC-F638BDF12C69}"/>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397564" y="0"/>
            <a:ext cx="1436370" cy="1629054"/>
          </a:xfrm>
          <a:prstGeom prst="rect">
            <a:avLst/>
          </a:prstGeom>
          <a:noFill/>
          <a:ln>
            <a:noFill/>
          </a:ln>
        </p:spPr>
      </p:pic>
    </p:spTree>
    <p:extLst>
      <p:ext uri="{BB962C8B-B14F-4D97-AF65-F5344CB8AC3E}">
        <p14:creationId xmlns:p14="http://schemas.microsoft.com/office/powerpoint/2010/main" val="114290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199" y="815463"/>
            <a:ext cx="9567041" cy="5361500"/>
          </a:xfrm>
        </p:spPr>
        <p:txBody>
          <a:bodyPr>
            <a:normAutofit/>
          </a:bodyPr>
          <a:lstStyle/>
          <a:p>
            <a:r>
              <a:rPr lang="en-IN" b="1" dirty="0">
                <a:latin typeface="Times New Roman" panose="02020603050405020304" pitchFamily="18" charset="0"/>
                <a:cs typeface="Times New Roman" panose="02020603050405020304" pitchFamily="18" charset="0"/>
              </a:rPr>
              <a:t>Back-End Structure                   </a:t>
            </a:r>
          </a:p>
          <a:p>
            <a:pPr marL="0" indent="0">
              <a:buNone/>
            </a:pPr>
            <a:r>
              <a:rPr lang="en-IN" sz="2000" dirty="0">
                <a:latin typeface="Times New Roman" panose="02020603050405020304" pitchFamily="18" charset="0"/>
                <a:cs typeface="Times New Roman" panose="02020603050405020304" pitchFamily="18" charset="0"/>
              </a:rPr>
              <a:t>File Structure                                                        Some Dependencies in pom.xml                      </a:t>
            </a:r>
            <a:endParaRPr lang="en-IN" sz="2000" dirty="0"/>
          </a:p>
        </p:txBody>
      </p:sp>
      <p:pic>
        <p:nvPicPr>
          <p:cNvPr id="9" name="Picture 8" descr="A screenshot of a computer&#10;&#10;AI-generated content may be incorrect.">
            <a:extLst>
              <a:ext uri="{FF2B5EF4-FFF2-40B4-BE49-F238E27FC236}">
                <a16:creationId xmlns:a16="http://schemas.microsoft.com/office/drawing/2014/main" id="{EF6A8A11-D9D7-CA05-66E2-01ACE7106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222" y="1620174"/>
            <a:ext cx="3814192" cy="4540705"/>
          </a:xfrm>
          <a:prstGeom prst="rect">
            <a:avLst/>
          </a:prstGeom>
          <a:noFill/>
        </p:spPr>
      </p:pic>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10</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7" name="Content Placeholder 5">
            <a:extLst>
              <a:ext uri="{FF2B5EF4-FFF2-40B4-BE49-F238E27FC236}">
                <a16:creationId xmlns:a16="http://schemas.microsoft.com/office/drawing/2014/main" id="{8E7F49A7-89B0-B477-95BE-24481780854C}"/>
              </a:ext>
            </a:extLst>
          </p:cNvPr>
          <p:cNvPicPr>
            <a:picLocks noChangeAspect="1"/>
          </p:cNvPicPr>
          <p:nvPr/>
        </p:nvPicPr>
        <p:blipFill>
          <a:blip r:embed="rId5"/>
          <a:stretch>
            <a:fillRect/>
          </a:stretch>
        </p:blipFill>
        <p:spPr>
          <a:xfrm>
            <a:off x="5866957" y="1620175"/>
            <a:ext cx="3064287" cy="2436919"/>
          </a:xfrm>
          <a:prstGeom prst="rect">
            <a:avLst/>
          </a:prstGeom>
        </p:spPr>
      </p:pic>
      <p:pic>
        <p:nvPicPr>
          <p:cNvPr id="11" name="Picture 10">
            <a:extLst>
              <a:ext uri="{FF2B5EF4-FFF2-40B4-BE49-F238E27FC236}">
                <a16:creationId xmlns:a16="http://schemas.microsoft.com/office/drawing/2014/main" id="{26F9E221-D970-AEA9-9498-86378D4D11F8}"/>
              </a:ext>
            </a:extLst>
          </p:cNvPr>
          <p:cNvPicPr>
            <a:picLocks noChangeAspect="1"/>
          </p:cNvPicPr>
          <p:nvPr/>
        </p:nvPicPr>
        <p:blipFill>
          <a:blip r:embed="rId6"/>
          <a:stretch>
            <a:fillRect/>
          </a:stretch>
        </p:blipFill>
        <p:spPr>
          <a:xfrm>
            <a:off x="5866958" y="4314768"/>
            <a:ext cx="4279624" cy="1846112"/>
          </a:xfrm>
          <a:prstGeom prst="rect">
            <a:avLst/>
          </a:prstGeom>
        </p:spPr>
      </p:pic>
      <p:sp>
        <p:nvSpPr>
          <p:cNvPr id="13" name="TextBox 12">
            <a:extLst>
              <a:ext uri="{FF2B5EF4-FFF2-40B4-BE49-F238E27FC236}">
                <a16:creationId xmlns:a16="http://schemas.microsoft.com/office/drawing/2014/main" id="{FB326B5D-0B60-7FD3-F919-39C9470E5709}"/>
              </a:ext>
            </a:extLst>
          </p:cNvPr>
          <p:cNvSpPr txBox="1"/>
          <p:nvPr/>
        </p:nvSpPr>
        <p:spPr>
          <a:xfrm>
            <a:off x="5770485" y="3963970"/>
            <a:ext cx="324922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Spring-Boot Configurations</a:t>
            </a:r>
            <a:endParaRPr lang="en-IN" sz="2000" dirty="0">
              <a:latin typeface="Times New Roman" panose="02020603050405020304" pitchFamily="18" charset="0"/>
              <a:cs typeface="Times New Roman" panose="02020603050405020304" pitchFamily="18" charset="0"/>
            </a:endParaRPr>
          </a:p>
        </p:txBody>
      </p:sp>
      <p:pic>
        <p:nvPicPr>
          <p:cNvPr id="14" name="Picture 13" descr="Image">
            <a:extLst>
              <a:ext uri="{FF2B5EF4-FFF2-40B4-BE49-F238E27FC236}">
                <a16:creationId xmlns:a16="http://schemas.microsoft.com/office/drawing/2014/main" id="{F611D0C2-F387-DF36-C51B-C8C250F7D7ED}"/>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405240" y="-8878"/>
            <a:ext cx="1436370" cy="1629054"/>
          </a:xfrm>
          <a:prstGeom prst="rect">
            <a:avLst/>
          </a:prstGeom>
          <a:noFill/>
          <a:ln>
            <a:noFill/>
          </a:ln>
        </p:spPr>
      </p:pic>
    </p:spTree>
    <p:extLst>
      <p:ext uri="{BB962C8B-B14F-4D97-AF65-F5344CB8AC3E}">
        <p14:creationId xmlns:p14="http://schemas.microsoft.com/office/powerpoint/2010/main" val="205458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CE12-7FB2-089C-9E63-F2DFBB68ABAD}"/>
              </a:ext>
            </a:extLst>
          </p:cNvPr>
          <p:cNvSpPr>
            <a:spLocks noGrp="1"/>
          </p:cNvSpPr>
          <p:nvPr>
            <p:ph type="title"/>
          </p:nvPr>
        </p:nvSpPr>
        <p:spPr>
          <a:xfrm>
            <a:off x="798990" y="347370"/>
            <a:ext cx="10554810" cy="968013"/>
          </a:xfrm>
        </p:spPr>
        <p:txBody>
          <a:bodyPr>
            <a:normAutofit/>
          </a:bodyPr>
          <a:lstStyle/>
          <a:p>
            <a:r>
              <a:rPr lang="en-IN" sz="4000" b="1" u="sng" dirty="0">
                <a:latin typeface="Times New Roman" panose="02020603050405020304" pitchFamily="18" charset="0"/>
                <a:cs typeface="Times New Roman" panose="02020603050405020304" pitchFamily="18" charset="0"/>
              </a:rPr>
              <a:t>Code Snippets (BACKEND)</a:t>
            </a:r>
          </a:p>
        </p:txBody>
      </p:sp>
      <p:pic>
        <p:nvPicPr>
          <p:cNvPr id="7" name="Content Placeholder 6" descr="A screen shot of a computer program&#10;&#10;AI-generated content may be incorrect.">
            <a:extLst>
              <a:ext uri="{FF2B5EF4-FFF2-40B4-BE49-F238E27FC236}">
                <a16:creationId xmlns:a16="http://schemas.microsoft.com/office/drawing/2014/main" id="{3D97BB2A-C008-F6D9-70E4-1E3183FB9D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4430" y="1910491"/>
            <a:ext cx="5338457" cy="3020443"/>
          </a:xfrm>
        </p:spPr>
      </p:pic>
      <p:sp>
        <p:nvSpPr>
          <p:cNvPr id="4" name="Footer Placeholder 3">
            <a:extLst>
              <a:ext uri="{FF2B5EF4-FFF2-40B4-BE49-F238E27FC236}">
                <a16:creationId xmlns:a16="http://schemas.microsoft.com/office/drawing/2014/main" id="{254BF5EB-6EC6-E483-D6D3-0EA4B86E16F2}"/>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E5CC8C2B-ABA1-CCA9-C630-66ADA5EA85DC}"/>
              </a:ext>
            </a:extLst>
          </p:cNvPr>
          <p:cNvSpPr>
            <a:spLocks noGrp="1"/>
          </p:cNvSpPr>
          <p:nvPr>
            <p:ph type="sldNum" sz="quarter" idx="12"/>
          </p:nvPr>
        </p:nvSpPr>
        <p:spPr/>
        <p:txBody>
          <a:bodyPr/>
          <a:lstStyle/>
          <a:p>
            <a:fld id="{345D60D9-5372-5F40-9443-0F9AE5BDC3C8}" type="slidenum">
              <a:rPr lang="en-US" smtClean="0"/>
              <a:pPr/>
              <a:t>11</a:t>
            </a:fld>
            <a:endParaRPr lang="en-US" dirty="0"/>
          </a:p>
        </p:txBody>
      </p:sp>
      <p:pic>
        <p:nvPicPr>
          <p:cNvPr id="9" name="Picture 8" descr="A white background with black text&#10;&#10;AI-generated content may be incorrect.">
            <a:extLst>
              <a:ext uri="{FF2B5EF4-FFF2-40B4-BE49-F238E27FC236}">
                <a16:creationId xmlns:a16="http://schemas.microsoft.com/office/drawing/2014/main" id="{95B700CF-D8BB-A1BD-5E66-F6581343C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34" y="1910491"/>
            <a:ext cx="5095875" cy="3257550"/>
          </a:xfrm>
          <a:prstGeom prst="rect">
            <a:avLst/>
          </a:prstGeom>
        </p:spPr>
      </p:pic>
      <p:sp>
        <p:nvSpPr>
          <p:cNvPr id="10" name="TextBox 9">
            <a:extLst>
              <a:ext uri="{FF2B5EF4-FFF2-40B4-BE49-F238E27FC236}">
                <a16:creationId xmlns:a16="http://schemas.microsoft.com/office/drawing/2014/main" id="{37EE9426-A2CD-5E3E-1FA4-B3399B565DD9}"/>
              </a:ext>
            </a:extLst>
          </p:cNvPr>
          <p:cNvSpPr txBox="1"/>
          <p:nvPr/>
        </p:nvSpPr>
        <p:spPr>
          <a:xfrm>
            <a:off x="931415" y="4951144"/>
            <a:ext cx="332098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Formula used for computing VAR</a:t>
            </a:r>
          </a:p>
        </p:txBody>
      </p:sp>
      <p:sp>
        <p:nvSpPr>
          <p:cNvPr id="14" name="TextBox 13">
            <a:extLst>
              <a:ext uri="{FF2B5EF4-FFF2-40B4-BE49-F238E27FC236}">
                <a16:creationId xmlns:a16="http://schemas.microsoft.com/office/drawing/2014/main" id="{A1D833BB-9387-49E2-514E-7E530ED893B0}"/>
              </a:ext>
            </a:extLst>
          </p:cNvPr>
          <p:cNvSpPr txBox="1"/>
          <p:nvPr/>
        </p:nvSpPr>
        <p:spPr>
          <a:xfrm>
            <a:off x="6354192" y="5089644"/>
            <a:ext cx="6103398" cy="369332"/>
          </a:xfrm>
          <a:prstGeom prst="rect">
            <a:avLst/>
          </a:prstGeom>
          <a:noFill/>
        </p:spPr>
        <p:txBody>
          <a:bodyPr wrap="square">
            <a:spAutoFit/>
          </a:bodyPr>
          <a:lstStyle/>
          <a:p>
            <a:r>
              <a:rPr lang="en-IN" dirty="0"/>
              <a:t>Implementation of VAR using </a:t>
            </a:r>
            <a:r>
              <a:rPr lang="en-IN" dirty="0" err="1"/>
              <a:t>StreamAPI</a:t>
            </a:r>
            <a:endParaRPr lang="en-IN" dirty="0"/>
          </a:p>
        </p:txBody>
      </p:sp>
      <p:pic>
        <p:nvPicPr>
          <p:cNvPr id="15" name="Picture 14">
            <a:extLst>
              <a:ext uri="{FF2B5EF4-FFF2-40B4-BE49-F238E27FC236}">
                <a16:creationId xmlns:a16="http://schemas.microsoft.com/office/drawing/2014/main" id="{824192CA-F257-93BF-52A6-B51AE27853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6" name="Picture 15" descr="Image">
            <a:extLst>
              <a:ext uri="{FF2B5EF4-FFF2-40B4-BE49-F238E27FC236}">
                <a16:creationId xmlns:a16="http://schemas.microsoft.com/office/drawing/2014/main" id="{9A79A34A-32DC-247B-1702-D063D3A119EA}"/>
              </a:ext>
            </a:extLst>
          </p:cNvPr>
          <p:cNvPicPr>
            <a:picLocks noChangeAspect="1"/>
          </p:cNvPicPr>
          <p:nvPr/>
        </p:nvPicPr>
        <p:blipFill>
          <a:blip r:link="rId5">
            <a:extLst>
              <a:ext uri="{28A0092B-C50C-407E-A947-70E740481C1C}">
                <a14:useLocalDpi xmlns:a14="http://schemas.microsoft.com/office/drawing/2010/main" val="0"/>
              </a:ext>
            </a:extLst>
          </a:blip>
          <a:srcRect/>
          <a:stretch>
            <a:fillRect/>
          </a:stretch>
        </p:blipFill>
        <p:spPr bwMode="auto">
          <a:xfrm>
            <a:off x="10397564" y="0"/>
            <a:ext cx="1436370" cy="1629054"/>
          </a:xfrm>
          <a:prstGeom prst="rect">
            <a:avLst/>
          </a:prstGeom>
          <a:noFill/>
          <a:ln>
            <a:noFill/>
          </a:ln>
        </p:spPr>
      </p:pic>
    </p:spTree>
    <p:extLst>
      <p:ext uri="{BB962C8B-B14F-4D97-AF65-F5344CB8AC3E}">
        <p14:creationId xmlns:p14="http://schemas.microsoft.com/office/powerpoint/2010/main" val="3381535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64833" y="570315"/>
            <a:ext cx="5127594" cy="470667"/>
          </a:xfrm>
        </p:spPr>
        <p:txBody>
          <a:bodyPr>
            <a:noAutofit/>
          </a:bodyPr>
          <a:lstStyle/>
          <a:p>
            <a:pPr marL="0" indent="0">
              <a:buNone/>
            </a:pPr>
            <a:r>
              <a:rPr lang="en-IN" sz="4000" b="1" dirty="0">
                <a:latin typeface="Times New Roman" panose="02020603050405020304" pitchFamily="18" charset="0"/>
                <a:cs typeface="Times New Roman" panose="02020603050405020304" pitchFamily="18" charset="0"/>
              </a:rPr>
              <a:t>Dashboard</a:t>
            </a:r>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12</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6" name="Picture 5" descr="Front End&#10;">
            <a:extLst>
              <a:ext uri="{FF2B5EF4-FFF2-40B4-BE49-F238E27FC236}">
                <a16:creationId xmlns:a16="http://schemas.microsoft.com/office/drawing/2014/main" id="{EEFADE7D-BA8C-B409-E682-D4E0A11D63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9809" y="1620176"/>
            <a:ext cx="8842160" cy="4363364"/>
          </a:xfrm>
          <a:prstGeom prst="rect">
            <a:avLst/>
          </a:prstGeom>
        </p:spPr>
      </p:pic>
      <p:pic>
        <p:nvPicPr>
          <p:cNvPr id="2" name="Picture 1" descr="Image">
            <a:extLst>
              <a:ext uri="{FF2B5EF4-FFF2-40B4-BE49-F238E27FC236}">
                <a16:creationId xmlns:a16="http://schemas.microsoft.com/office/drawing/2014/main" id="{C6F21F36-27D5-471A-9309-3314507A2F61}"/>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0"/>
            <a:ext cx="1436370" cy="1629054"/>
          </a:xfrm>
          <a:prstGeom prst="rect">
            <a:avLst/>
          </a:prstGeom>
          <a:noFill/>
          <a:ln>
            <a:noFill/>
          </a:ln>
        </p:spPr>
      </p:pic>
    </p:spTree>
    <p:extLst>
      <p:ext uri="{BB962C8B-B14F-4D97-AF65-F5344CB8AC3E}">
        <p14:creationId xmlns:p14="http://schemas.microsoft.com/office/powerpoint/2010/main" val="6179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CE12-7FB2-089C-9E63-F2DFBB68ABAD}"/>
              </a:ext>
            </a:extLst>
          </p:cNvPr>
          <p:cNvSpPr>
            <a:spLocks noGrp="1"/>
          </p:cNvSpPr>
          <p:nvPr>
            <p:ph type="title"/>
          </p:nvPr>
        </p:nvSpPr>
        <p:spPr>
          <a:xfrm>
            <a:off x="798990" y="347370"/>
            <a:ext cx="10554810" cy="968013"/>
          </a:xfrm>
        </p:spPr>
        <p:txBody>
          <a:bodyPr>
            <a:normAutofit/>
          </a:bodyPr>
          <a:lstStyle/>
          <a:p>
            <a:r>
              <a:rPr lang="en-IN" sz="4000" b="1" u="sng" dirty="0">
                <a:latin typeface="Times New Roman" panose="02020603050405020304" pitchFamily="18" charset="0"/>
                <a:cs typeface="Times New Roman" panose="02020603050405020304" pitchFamily="18" charset="0"/>
              </a:rPr>
              <a:t>Code Snippets (FRONTEND)</a:t>
            </a:r>
          </a:p>
        </p:txBody>
      </p:sp>
      <p:pic>
        <p:nvPicPr>
          <p:cNvPr id="7" name="Content Placeholder 6">
            <a:extLst>
              <a:ext uri="{FF2B5EF4-FFF2-40B4-BE49-F238E27FC236}">
                <a16:creationId xmlns:a16="http://schemas.microsoft.com/office/drawing/2014/main" id="{3D97BB2A-C008-F6D9-70E4-1E3183FB9D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376039" y="1474093"/>
            <a:ext cx="8256207" cy="3615551"/>
          </a:xfrm>
        </p:spPr>
      </p:pic>
      <p:sp>
        <p:nvSpPr>
          <p:cNvPr id="4" name="Footer Placeholder 3">
            <a:extLst>
              <a:ext uri="{FF2B5EF4-FFF2-40B4-BE49-F238E27FC236}">
                <a16:creationId xmlns:a16="http://schemas.microsoft.com/office/drawing/2014/main" id="{254BF5EB-6EC6-E483-D6D3-0EA4B86E16F2}"/>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E5CC8C2B-ABA1-CCA9-C630-66ADA5EA85DC}"/>
              </a:ext>
            </a:extLst>
          </p:cNvPr>
          <p:cNvSpPr>
            <a:spLocks noGrp="1"/>
          </p:cNvSpPr>
          <p:nvPr>
            <p:ph type="sldNum" sz="quarter" idx="12"/>
          </p:nvPr>
        </p:nvSpPr>
        <p:spPr/>
        <p:txBody>
          <a:bodyPr/>
          <a:lstStyle/>
          <a:p>
            <a:fld id="{345D60D9-5372-5F40-9443-0F9AE5BDC3C8}" type="slidenum">
              <a:rPr lang="en-US" smtClean="0"/>
              <a:pPr/>
              <a:t>13</a:t>
            </a:fld>
            <a:endParaRPr lang="en-US" dirty="0"/>
          </a:p>
        </p:txBody>
      </p:sp>
      <p:pic>
        <p:nvPicPr>
          <p:cNvPr id="15" name="Picture 14">
            <a:extLst>
              <a:ext uri="{FF2B5EF4-FFF2-40B4-BE49-F238E27FC236}">
                <a16:creationId xmlns:a16="http://schemas.microsoft.com/office/drawing/2014/main" id="{824192CA-F257-93BF-52A6-B51AE27853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6" name="Picture 15" descr="Image">
            <a:extLst>
              <a:ext uri="{FF2B5EF4-FFF2-40B4-BE49-F238E27FC236}">
                <a16:creationId xmlns:a16="http://schemas.microsoft.com/office/drawing/2014/main" id="{9A79A34A-32DC-247B-1702-D063D3A119EA}"/>
              </a:ext>
            </a:extLst>
          </p:cNvPr>
          <p:cNvPicPr>
            <a:picLocks noChangeAspect="1"/>
          </p:cNvPicPr>
          <p:nvPr/>
        </p:nvPicPr>
        <p:blipFill>
          <a:blip r:link="rId4">
            <a:extLst>
              <a:ext uri="{28A0092B-C50C-407E-A947-70E740481C1C}">
                <a14:useLocalDpi xmlns:a14="http://schemas.microsoft.com/office/drawing/2010/main" val="0"/>
              </a:ext>
            </a:extLst>
          </a:blip>
          <a:srcRect/>
          <a:stretch>
            <a:fillRect/>
          </a:stretch>
        </p:blipFill>
        <p:spPr bwMode="auto">
          <a:xfrm>
            <a:off x="10397564" y="0"/>
            <a:ext cx="1436370" cy="1629054"/>
          </a:xfrm>
          <a:prstGeom prst="rect">
            <a:avLst/>
          </a:prstGeom>
          <a:noFill/>
          <a:ln>
            <a:noFill/>
          </a:ln>
        </p:spPr>
      </p:pic>
    </p:spTree>
    <p:extLst>
      <p:ext uri="{BB962C8B-B14F-4D97-AF65-F5344CB8AC3E}">
        <p14:creationId xmlns:p14="http://schemas.microsoft.com/office/powerpoint/2010/main" val="2734017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56D3-E8E3-9915-2BC9-64A95B8E7C64}"/>
              </a:ext>
            </a:extLst>
          </p:cNvPr>
          <p:cNvSpPr>
            <a:spLocks noGrp="1"/>
          </p:cNvSpPr>
          <p:nvPr>
            <p:ph type="title"/>
          </p:nvPr>
        </p:nvSpPr>
        <p:spPr>
          <a:xfrm>
            <a:off x="1335350" y="297373"/>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Service Discovery using Eureka Server</a:t>
            </a:r>
          </a:p>
        </p:txBody>
      </p:sp>
      <p:pic>
        <p:nvPicPr>
          <p:cNvPr id="8" name="Content Placeholder 7" descr="A screenshot of a computer&#10;&#10;AI-generated content may be incorrect.">
            <a:extLst>
              <a:ext uri="{FF2B5EF4-FFF2-40B4-BE49-F238E27FC236}">
                <a16:creationId xmlns:a16="http://schemas.microsoft.com/office/drawing/2014/main" id="{39567934-B5AB-439D-2B46-1610152F8E4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64327" y="1622936"/>
            <a:ext cx="9095913" cy="4517082"/>
          </a:xfrm>
        </p:spPr>
      </p:pic>
      <p:sp>
        <p:nvSpPr>
          <p:cNvPr id="5" name="Footer Placeholder 4">
            <a:extLst>
              <a:ext uri="{FF2B5EF4-FFF2-40B4-BE49-F238E27FC236}">
                <a16:creationId xmlns:a16="http://schemas.microsoft.com/office/drawing/2014/main" id="{BC0329C4-A223-A77E-CB8C-D7C71E8B8F77}"/>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69507AC6-A998-DD13-D396-104F00287D91}"/>
              </a:ext>
            </a:extLst>
          </p:cNvPr>
          <p:cNvSpPr>
            <a:spLocks noGrp="1"/>
          </p:cNvSpPr>
          <p:nvPr>
            <p:ph type="sldNum" sz="quarter" idx="12"/>
          </p:nvPr>
        </p:nvSpPr>
        <p:spPr/>
        <p:txBody>
          <a:bodyPr/>
          <a:lstStyle/>
          <a:p>
            <a:fld id="{345D60D9-5372-5F40-9443-0F9AE5BDC3C8}" type="slidenum">
              <a:rPr lang="en-US" smtClean="0"/>
              <a:pPr/>
              <a:t>14</a:t>
            </a:fld>
            <a:endParaRPr lang="en-US" dirty="0"/>
          </a:p>
        </p:txBody>
      </p:sp>
    </p:spTree>
    <p:extLst>
      <p:ext uri="{BB962C8B-B14F-4D97-AF65-F5344CB8AC3E}">
        <p14:creationId xmlns:p14="http://schemas.microsoft.com/office/powerpoint/2010/main" val="2995826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722790" y="334982"/>
            <a:ext cx="6104138" cy="470667"/>
          </a:xfrm>
        </p:spPr>
        <p:txBody>
          <a:bodyPr>
            <a:noAutofit/>
          </a:bodyPr>
          <a:lstStyle/>
          <a:p>
            <a:pPr marL="0" indent="0">
              <a:buNone/>
            </a:pPr>
            <a:r>
              <a:rPr lang="en-US" sz="4000" b="1" u="sng" dirty="0">
                <a:latin typeface="Times New Roman" panose="02020603050405020304" pitchFamily="18" charset="0"/>
                <a:cs typeface="Times New Roman" panose="02020603050405020304" pitchFamily="18" charset="0"/>
              </a:rPr>
              <a:t>Static Code Analysis Tools</a:t>
            </a:r>
            <a:endParaRPr lang="en-IN" sz="4000" b="1" u="sng"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dirty="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15</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91067198-4F52-32C9-9D4A-EB5D62CDB288}"/>
              </a:ext>
            </a:extLst>
          </p:cNvPr>
          <p:cNvSpPr txBox="1"/>
          <p:nvPr/>
        </p:nvSpPr>
        <p:spPr>
          <a:xfrm>
            <a:off x="772357" y="1480551"/>
            <a:ext cx="9534617"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Overview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Purpose: Ensure robust code quality and maintainability in ALM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Tools used: </a:t>
            </a:r>
            <a:r>
              <a:rPr lang="en-US" b="1" dirty="0" err="1">
                <a:latin typeface="Times New Roman" panose="02020603050405020304" pitchFamily="18" charset="0"/>
                <a:cs typeface="Times New Roman" panose="02020603050405020304" pitchFamily="18" charset="0"/>
              </a:rPr>
              <a:t>Checkstyle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PMD</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SpotBugs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Javadoc</a:t>
            </a:r>
            <a:r>
              <a:rPr lang="en-US" dirty="0">
                <a:latin typeface="Times New Roman" panose="02020603050405020304" pitchFamily="18" charset="0"/>
                <a:cs typeface="Times New Roman" panose="02020603050405020304" pitchFamily="18" charset="0"/>
              </a:rPr>
              <a:t>.</a:t>
            </a:r>
          </a:p>
        </p:txBody>
      </p:sp>
      <p:graphicFrame>
        <p:nvGraphicFramePr>
          <p:cNvPr id="8" name="Table 7">
            <a:extLst>
              <a:ext uri="{FF2B5EF4-FFF2-40B4-BE49-F238E27FC236}">
                <a16:creationId xmlns:a16="http://schemas.microsoft.com/office/drawing/2014/main" id="{6127969E-71F5-F852-FD99-69760884878F}"/>
              </a:ext>
            </a:extLst>
          </p:cNvPr>
          <p:cNvGraphicFramePr>
            <a:graphicFrameLocks noGrp="1"/>
          </p:cNvGraphicFramePr>
          <p:nvPr>
            <p:extLst>
              <p:ext uri="{D42A27DB-BD31-4B8C-83A1-F6EECF244321}">
                <p14:modId xmlns:p14="http://schemas.microsoft.com/office/powerpoint/2010/main" val="398161205"/>
              </p:ext>
            </p:extLst>
          </p:nvPr>
        </p:nvGraphicFramePr>
        <p:xfrm>
          <a:off x="772357" y="2930772"/>
          <a:ext cx="10581443" cy="2898687"/>
        </p:xfrm>
        <a:graphic>
          <a:graphicData uri="http://schemas.openxmlformats.org/drawingml/2006/table">
            <a:tbl>
              <a:tblPr/>
              <a:tblGrid>
                <a:gridCol w="5323643">
                  <a:extLst>
                    <a:ext uri="{9D8B030D-6E8A-4147-A177-3AD203B41FA5}">
                      <a16:colId xmlns:a16="http://schemas.microsoft.com/office/drawing/2014/main" val="3006718101"/>
                    </a:ext>
                  </a:extLst>
                </a:gridCol>
                <a:gridCol w="5257800">
                  <a:extLst>
                    <a:ext uri="{9D8B030D-6E8A-4147-A177-3AD203B41FA5}">
                      <a16:colId xmlns:a16="http://schemas.microsoft.com/office/drawing/2014/main" val="1084456903"/>
                    </a:ext>
                  </a:extLst>
                </a:gridCol>
              </a:tblGrid>
              <a:tr h="399819">
                <a:tc>
                  <a:txBody>
                    <a:bodyPr/>
                    <a:lstStyle/>
                    <a:p>
                      <a:r>
                        <a:rPr lang="en-IN" dirty="0">
                          <a:latin typeface="Times New Roman" panose="02020603050405020304" pitchFamily="18" charset="0"/>
                          <a:cs typeface="Times New Roman" panose="02020603050405020304" pitchFamily="18" charset="0"/>
                        </a:rPr>
                        <a:t>Tool</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Purpose</a:t>
                      </a:r>
                    </a:p>
                  </a:txBody>
                  <a:tcPr anchor="ctr">
                    <a:lnL>
                      <a:noFill/>
                    </a:lnL>
                    <a:lnR>
                      <a:noFill/>
                    </a:lnR>
                    <a:lnT>
                      <a:noFill/>
                    </a:lnT>
                    <a:lnB>
                      <a:noFill/>
                    </a:lnB>
                  </a:tcPr>
                </a:tc>
                <a:extLst>
                  <a:ext uri="{0D108BD9-81ED-4DB2-BD59-A6C34878D82A}">
                    <a16:rowId xmlns:a16="http://schemas.microsoft.com/office/drawing/2014/main" val="2885876082"/>
                  </a:ext>
                </a:extLst>
              </a:tr>
              <a:tr h="399819">
                <a:tc>
                  <a:txBody>
                    <a:bodyPr/>
                    <a:lstStyle/>
                    <a:p>
                      <a:r>
                        <a:rPr lang="en-IN" b="1" dirty="0" err="1">
                          <a:latin typeface="Times New Roman" panose="02020603050405020304" pitchFamily="18" charset="0"/>
                          <a:cs typeface="Times New Roman" panose="02020603050405020304" pitchFamily="18" charset="0"/>
                        </a:rPr>
                        <a:t>Checkstyle</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Enforces coding style rules (naming, formatting)</a:t>
                      </a:r>
                    </a:p>
                  </a:txBody>
                  <a:tcPr anchor="ctr">
                    <a:lnL>
                      <a:noFill/>
                    </a:lnL>
                    <a:lnR>
                      <a:noFill/>
                    </a:lnR>
                    <a:lnT>
                      <a:noFill/>
                    </a:lnT>
                    <a:lnB>
                      <a:noFill/>
                    </a:lnB>
                  </a:tcPr>
                </a:tc>
                <a:extLst>
                  <a:ext uri="{0D108BD9-81ED-4DB2-BD59-A6C34878D82A}">
                    <a16:rowId xmlns:a16="http://schemas.microsoft.com/office/drawing/2014/main" val="1897970478"/>
                  </a:ext>
                </a:extLst>
              </a:tr>
              <a:tr h="699683">
                <a:tc>
                  <a:txBody>
                    <a:bodyPr/>
                    <a:lstStyle/>
                    <a:p>
                      <a:r>
                        <a:rPr lang="en-IN" b="1" dirty="0">
                          <a:latin typeface="Times New Roman" panose="02020603050405020304" pitchFamily="18" charset="0"/>
                          <a:cs typeface="Times New Roman" panose="02020603050405020304" pitchFamily="18" charset="0"/>
                        </a:rPr>
                        <a:t>PMD</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Detects code issues (unused variables, complexity)</a:t>
                      </a:r>
                    </a:p>
                  </a:txBody>
                  <a:tcPr anchor="ctr">
                    <a:lnL>
                      <a:noFill/>
                    </a:lnL>
                    <a:lnR>
                      <a:noFill/>
                    </a:lnR>
                    <a:lnT>
                      <a:noFill/>
                    </a:lnT>
                    <a:lnB>
                      <a:noFill/>
                    </a:lnB>
                  </a:tcPr>
                </a:tc>
                <a:extLst>
                  <a:ext uri="{0D108BD9-81ED-4DB2-BD59-A6C34878D82A}">
                    <a16:rowId xmlns:a16="http://schemas.microsoft.com/office/drawing/2014/main" val="114787039"/>
                  </a:ext>
                </a:extLst>
              </a:tr>
              <a:tr h="699683">
                <a:tc>
                  <a:txBody>
                    <a:bodyPr/>
                    <a:lstStyle/>
                    <a:p>
                      <a:r>
                        <a:rPr lang="en-IN" b="1" dirty="0" err="1">
                          <a:latin typeface="Times New Roman" panose="02020603050405020304" pitchFamily="18" charset="0"/>
                          <a:cs typeface="Times New Roman" panose="02020603050405020304" pitchFamily="18" charset="0"/>
                        </a:rPr>
                        <a:t>SpotBugs</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Finds runtime defects (null dereference, resource leaks)</a:t>
                      </a:r>
                    </a:p>
                  </a:txBody>
                  <a:tcPr anchor="ctr">
                    <a:lnL>
                      <a:noFill/>
                    </a:lnL>
                    <a:lnR>
                      <a:noFill/>
                    </a:lnR>
                    <a:lnT>
                      <a:noFill/>
                    </a:lnT>
                    <a:lnB>
                      <a:noFill/>
                    </a:lnB>
                  </a:tcPr>
                </a:tc>
                <a:extLst>
                  <a:ext uri="{0D108BD9-81ED-4DB2-BD59-A6C34878D82A}">
                    <a16:rowId xmlns:a16="http://schemas.microsoft.com/office/drawing/2014/main" val="4143435564"/>
                  </a:ext>
                </a:extLst>
              </a:tr>
              <a:tr h="699683">
                <a:tc>
                  <a:txBody>
                    <a:bodyPr/>
                    <a:lstStyle/>
                    <a:p>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1255894463"/>
                  </a:ext>
                </a:extLst>
              </a:tr>
            </a:tbl>
          </a:graphicData>
        </a:graphic>
      </p:graphicFrame>
      <p:pic>
        <p:nvPicPr>
          <p:cNvPr id="2" name="Picture 1" descr="Image">
            <a:extLst>
              <a:ext uri="{FF2B5EF4-FFF2-40B4-BE49-F238E27FC236}">
                <a16:creationId xmlns:a16="http://schemas.microsoft.com/office/drawing/2014/main" id="{28F21DA2-53C6-01FD-2A33-FFDB008458B8}"/>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177466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7E098-18F6-AD84-C652-3DC8BFC50A4A}"/>
              </a:ext>
            </a:extLst>
          </p:cNvPr>
          <p:cNvSpPr>
            <a:spLocks noGrp="1"/>
          </p:cNvSpPr>
          <p:nvPr>
            <p:ph type="title"/>
          </p:nvPr>
        </p:nvSpPr>
        <p:spPr>
          <a:xfrm>
            <a:off x="838200" y="365125"/>
            <a:ext cx="10515600" cy="1322273"/>
          </a:xfrm>
        </p:spPr>
        <p:txBody>
          <a:bodyPr>
            <a:normAutofit/>
          </a:bodyPr>
          <a:lstStyle/>
          <a:p>
            <a:r>
              <a:rPr lang="en-IN" sz="4000" b="1" u="sng" dirty="0">
                <a:latin typeface="Times New Roman" panose="02020603050405020304" pitchFamily="18" charset="0"/>
                <a:cs typeface="Times New Roman" panose="02020603050405020304" pitchFamily="18" charset="0"/>
              </a:rPr>
              <a:t>PMD &amp; SPOTBUG REPORT:</a:t>
            </a:r>
          </a:p>
        </p:txBody>
      </p:sp>
      <p:pic>
        <p:nvPicPr>
          <p:cNvPr id="14" name="Content Placeholder 13" descr="A screenshot of a computer&#10;&#10;AI-generated content may be incorrect.">
            <a:extLst>
              <a:ext uri="{FF2B5EF4-FFF2-40B4-BE49-F238E27FC236}">
                <a16:creationId xmlns:a16="http://schemas.microsoft.com/office/drawing/2014/main" id="{70A2A7D1-FEA2-F996-C9A3-79B62799B40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87609" y="2206720"/>
            <a:ext cx="5181600" cy="2586749"/>
          </a:xfrm>
        </p:spPr>
      </p:pic>
      <p:sp>
        <p:nvSpPr>
          <p:cNvPr id="5" name="Footer Placeholder 4">
            <a:extLst>
              <a:ext uri="{FF2B5EF4-FFF2-40B4-BE49-F238E27FC236}">
                <a16:creationId xmlns:a16="http://schemas.microsoft.com/office/drawing/2014/main" id="{B76F6E6B-6210-1705-75FF-8A299437AB96}"/>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0C844C75-0AD8-C1FE-8D37-82B9D26222BE}"/>
              </a:ext>
            </a:extLst>
          </p:cNvPr>
          <p:cNvSpPr>
            <a:spLocks noGrp="1"/>
          </p:cNvSpPr>
          <p:nvPr>
            <p:ph type="sldNum" sz="quarter" idx="12"/>
          </p:nvPr>
        </p:nvSpPr>
        <p:spPr/>
        <p:txBody>
          <a:bodyPr/>
          <a:lstStyle/>
          <a:p>
            <a:fld id="{345D60D9-5372-5F40-9443-0F9AE5BDC3C8}" type="slidenum">
              <a:rPr lang="en-US" smtClean="0"/>
              <a:pPr/>
              <a:t>16</a:t>
            </a:fld>
            <a:endParaRPr lang="en-US" dirty="0"/>
          </a:p>
        </p:txBody>
      </p:sp>
      <p:pic>
        <p:nvPicPr>
          <p:cNvPr id="12" name="Content Placeholder 11" descr="A screenshot of a computer&#10;&#10;AI-generated content may be incorrect.">
            <a:extLst>
              <a:ext uri="{FF2B5EF4-FFF2-40B4-BE49-F238E27FC236}">
                <a16:creationId xmlns:a16="http://schemas.microsoft.com/office/drawing/2014/main" id="{8967F37C-A226-87CC-D17B-023D1798127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2214820"/>
            <a:ext cx="5181600" cy="2578649"/>
          </a:xfrm>
        </p:spPr>
      </p:pic>
      <p:pic>
        <p:nvPicPr>
          <p:cNvPr id="3" name="Picture 2">
            <a:extLst>
              <a:ext uri="{FF2B5EF4-FFF2-40B4-BE49-F238E27FC236}">
                <a16:creationId xmlns:a16="http://schemas.microsoft.com/office/drawing/2014/main" id="{F1DF29DB-DA0A-AEFD-C015-DA518C4BE1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pic>
        <p:nvPicPr>
          <p:cNvPr id="4" name="Picture 3" descr="Image">
            <a:extLst>
              <a:ext uri="{FF2B5EF4-FFF2-40B4-BE49-F238E27FC236}">
                <a16:creationId xmlns:a16="http://schemas.microsoft.com/office/drawing/2014/main" id="{129B44D2-354D-5CCF-55DD-1AA70D991CD5}"/>
              </a:ext>
            </a:extLst>
          </p:cNvPr>
          <p:cNvPicPr>
            <a:picLocks noChangeAspect="1"/>
          </p:cNvPicPr>
          <p:nvPr/>
        </p:nvPicPr>
        <p:blipFill>
          <a:blip r:link="rId5">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1735987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53EA-5563-67D5-620C-7B72B9AB1A0D}"/>
              </a:ext>
            </a:extLst>
          </p:cNvPr>
          <p:cNvSpPr>
            <a:spLocks noGrp="1"/>
          </p:cNvSpPr>
          <p:nvPr>
            <p:ph type="title"/>
          </p:nvPr>
        </p:nvSpPr>
        <p:spPr/>
        <p:txBody>
          <a:bodyPr>
            <a:normAutofit/>
          </a:bodyPr>
          <a:lstStyle/>
          <a:p>
            <a:r>
              <a:rPr lang="en-IN" sz="4000" b="1" u="sng" dirty="0">
                <a:latin typeface="Times New Roman" panose="02020603050405020304" pitchFamily="18" charset="0"/>
                <a:cs typeface="Times New Roman" panose="02020603050405020304" pitchFamily="18" charset="0"/>
              </a:rPr>
              <a:t>JAVADOC &amp; CHECKSTYLE REPORT:</a:t>
            </a:r>
          </a:p>
        </p:txBody>
      </p:sp>
      <p:pic>
        <p:nvPicPr>
          <p:cNvPr id="8" name="Content Placeholder 7" descr="A screenshot of a computer&#10;&#10;AI-generated content may be incorrect.">
            <a:extLst>
              <a:ext uri="{FF2B5EF4-FFF2-40B4-BE49-F238E27FC236}">
                <a16:creationId xmlns:a16="http://schemas.microsoft.com/office/drawing/2014/main" id="{2E25A7B2-5A66-CFF9-9D9A-6F605C1EDE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65338" y="2300959"/>
            <a:ext cx="5181600" cy="2578649"/>
          </a:xfrm>
        </p:spPr>
      </p:pic>
      <p:pic>
        <p:nvPicPr>
          <p:cNvPr id="10" name="Content Placeholder 9">
            <a:extLst>
              <a:ext uri="{FF2B5EF4-FFF2-40B4-BE49-F238E27FC236}">
                <a16:creationId xmlns:a16="http://schemas.microsoft.com/office/drawing/2014/main" id="{55726868-74B3-9BDD-3A24-52AA158FF89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096000" y="2300959"/>
            <a:ext cx="5181600" cy="2584049"/>
          </a:xfrm>
        </p:spPr>
      </p:pic>
      <p:sp>
        <p:nvSpPr>
          <p:cNvPr id="5" name="Footer Placeholder 4">
            <a:extLst>
              <a:ext uri="{FF2B5EF4-FFF2-40B4-BE49-F238E27FC236}">
                <a16:creationId xmlns:a16="http://schemas.microsoft.com/office/drawing/2014/main" id="{FB4528DB-9361-459C-8B2A-F5C3B3828ABD}"/>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F126FDE8-E791-80CE-EAE2-A0F3BC65E89E}"/>
              </a:ext>
            </a:extLst>
          </p:cNvPr>
          <p:cNvSpPr>
            <a:spLocks noGrp="1"/>
          </p:cNvSpPr>
          <p:nvPr>
            <p:ph type="sldNum" sz="quarter" idx="12"/>
          </p:nvPr>
        </p:nvSpPr>
        <p:spPr/>
        <p:txBody>
          <a:bodyPr/>
          <a:lstStyle/>
          <a:p>
            <a:fld id="{345D60D9-5372-5F40-9443-0F9AE5BDC3C8}" type="slidenum">
              <a:rPr lang="en-US" smtClean="0"/>
              <a:pPr/>
              <a:t>17</a:t>
            </a:fld>
            <a:endParaRPr lang="en-US" dirty="0"/>
          </a:p>
        </p:txBody>
      </p:sp>
      <p:pic>
        <p:nvPicPr>
          <p:cNvPr id="3" name="Picture 2">
            <a:extLst>
              <a:ext uri="{FF2B5EF4-FFF2-40B4-BE49-F238E27FC236}">
                <a16:creationId xmlns:a16="http://schemas.microsoft.com/office/drawing/2014/main" id="{119A3294-6C63-03EA-4228-EE59157036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pic>
        <p:nvPicPr>
          <p:cNvPr id="4" name="Picture 3" descr="Image">
            <a:extLst>
              <a:ext uri="{FF2B5EF4-FFF2-40B4-BE49-F238E27FC236}">
                <a16:creationId xmlns:a16="http://schemas.microsoft.com/office/drawing/2014/main" id="{195A30B2-B878-48E0-4B2D-42F76729A5A6}"/>
              </a:ext>
            </a:extLst>
          </p:cNvPr>
          <p:cNvPicPr>
            <a:picLocks noChangeAspect="1"/>
          </p:cNvPicPr>
          <p:nvPr/>
        </p:nvPicPr>
        <p:blipFill>
          <a:blip r:link="rId5">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1847791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18</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43095"/>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pic>
        <p:nvPicPr>
          <p:cNvPr id="6" name="Picture 5" descr="A screenshot of a computer">
            <a:extLst>
              <a:ext uri="{FF2B5EF4-FFF2-40B4-BE49-F238E27FC236}">
                <a16:creationId xmlns:a16="http://schemas.microsoft.com/office/drawing/2014/main" id="{D22B9FFA-8349-CE0F-4BA8-C1A6E8B00D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053" y="2054237"/>
            <a:ext cx="8486277" cy="4196704"/>
          </a:xfrm>
          <a:prstGeom prst="rect">
            <a:avLst/>
          </a:prstGeom>
        </p:spPr>
      </p:pic>
      <p:sp>
        <p:nvSpPr>
          <p:cNvPr id="7" name="TextBox 6">
            <a:extLst>
              <a:ext uri="{FF2B5EF4-FFF2-40B4-BE49-F238E27FC236}">
                <a16:creationId xmlns:a16="http://schemas.microsoft.com/office/drawing/2014/main" id="{4CBDC567-9D23-C8ED-8B61-5A7602C0258E}"/>
              </a:ext>
            </a:extLst>
          </p:cNvPr>
          <p:cNvSpPr txBox="1"/>
          <p:nvPr/>
        </p:nvSpPr>
        <p:spPr>
          <a:xfrm>
            <a:off x="2495285" y="97763"/>
            <a:ext cx="602133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Useful Analytical Insights</a:t>
            </a:r>
          </a:p>
        </p:txBody>
      </p:sp>
      <p:sp>
        <p:nvSpPr>
          <p:cNvPr id="11" name="TextBox 10">
            <a:extLst>
              <a:ext uri="{FF2B5EF4-FFF2-40B4-BE49-F238E27FC236}">
                <a16:creationId xmlns:a16="http://schemas.microsoft.com/office/drawing/2014/main" id="{BA77D6D7-AA6C-490A-7D62-5FFC8ED10142}"/>
              </a:ext>
            </a:extLst>
          </p:cNvPr>
          <p:cNvSpPr txBox="1"/>
          <p:nvPr/>
        </p:nvSpPr>
        <p:spPr>
          <a:xfrm>
            <a:off x="505343" y="1019097"/>
            <a:ext cx="8011272" cy="523220"/>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1.Liquidity Gap</a:t>
            </a:r>
          </a:p>
        </p:txBody>
      </p:sp>
      <p:pic>
        <p:nvPicPr>
          <p:cNvPr id="2" name="Picture 1" descr="Image">
            <a:extLst>
              <a:ext uri="{FF2B5EF4-FFF2-40B4-BE49-F238E27FC236}">
                <a16:creationId xmlns:a16="http://schemas.microsoft.com/office/drawing/2014/main" id="{55E70ABC-B416-5664-2100-AA4836FB2CA1}"/>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0"/>
            <a:ext cx="1436370" cy="1629054"/>
          </a:xfrm>
          <a:prstGeom prst="rect">
            <a:avLst/>
          </a:prstGeom>
          <a:noFill/>
          <a:ln>
            <a:noFill/>
          </a:ln>
        </p:spPr>
      </p:pic>
    </p:spTree>
    <p:extLst>
      <p:ext uri="{BB962C8B-B14F-4D97-AF65-F5344CB8AC3E}">
        <p14:creationId xmlns:p14="http://schemas.microsoft.com/office/powerpoint/2010/main" val="2373352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19</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4CBDC567-9D23-C8ED-8B61-5A7602C0258E}"/>
              </a:ext>
            </a:extLst>
          </p:cNvPr>
          <p:cNvSpPr txBox="1"/>
          <p:nvPr/>
        </p:nvSpPr>
        <p:spPr>
          <a:xfrm>
            <a:off x="757699" y="625090"/>
            <a:ext cx="6084817"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2.</a:t>
            </a:r>
            <a:r>
              <a:rPr lang="en-IN" sz="2800" b="1" u="sng" dirty="0">
                <a:latin typeface="Times New Roman" panose="02020603050405020304" pitchFamily="18" charset="0"/>
                <a:cs typeface="Times New Roman" panose="02020603050405020304" pitchFamily="18" charset="0"/>
              </a:rPr>
              <a:t>NIM ANALYSIS</a:t>
            </a:r>
          </a:p>
        </p:txBody>
      </p:sp>
      <p:pic>
        <p:nvPicPr>
          <p:cNvPr id="17" name="Picture 16" descr="A graph with a line&#10;&#10;AI-generated content may be incorrect.">
            <a:extLst>
              <a:ext uri="{FF2B5EF4-FFF2-40B4-BE49-F238E27FC236}">
                <a16:creationId xmlns:a16="http://schemas.microsoft.com/office/drawing/2014/main" id="{2B4A88B8-28CC-53E9-DF4F-A8E1265E6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699" y="1721514"/>
            <a:ext cx="9647542" cy="3914433"/>
          </a:xfrm>
          <a:prstGeom prst="rect">
            <a:avLst/>
          </a:prstGeom>
        </p:spPr>
      </p:pic>
      <p:pic>
        <p:nvPicPr>
          <p:cNvPr id="2" name="Picture 1" descr="Image">
            <a:extLst>
              <a:ext uri="{FF2B5EF4-FFF2-40B4-BE49-F238E27FC236}">
                <a16:creationId xmlns:a16="http://schemas.microsoft.com/office/drawing/2014/main" id="{E089732E-E3DC-3C01-2CF3-2894836D11E3}"/>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3115072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20</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65228"/>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4CBDC567-9D23-C8ED-8B61-5A7602C0258E}"/>
              </a:ext>
            </a:extLst>
          </p:cNvPr>
          <p:cNvSpPr txBox="1"/>
          <p:nvPr/>
        </p:nvSpPr>
        <p:spPr>
          <a:xfrm>
            <a:off x="597822" y="486085"/>
            <a:ext cx="7827763" cy="523220"/>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3.Asset Class Breakdown</a:t>
            </a:r>
          </a:p>
        </p:txBody>
      </p:sp>
      <p:pic>
        <p:nvPicPr>
          <p:cNvPr id="14" name="Picture 13" descr="A screenshot of a pie chart&#10;&#10;AI-generated content may be incorrect.">
            <a:extLst>
              <a:ext uri="{FF2B5EF4-FFF2-40B4-BE49-F238E27FC236}">
                <a16:creationId xmlns:a16="http://schemas.microsoft.com/office/drawing/2014/main" id="{119146A2-2E69-7E30-139B-1A6C42430C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841" y="1411548"/>
            <a:ext cx="9058370" cy="3524547"/>
          </a:xfrm>
          <a:prstGeom prst="rect">
            <a:avLst/>
          </a:prstGeom>
        </p:spPr>
      </p:pic>
      <p:pic>
        <p:nvPicPr>
          <p:cNvPr id="2" name="Picture 1" descr="Image">
            <a:extLst>
              <a:ext uri="{FF2B5EF4-FFF2-40B4-BE49-F238E27FC236}">
                <a16:creationId xmlns:a16="http://schemas.microsoft.com/office/drawing/2014/main" id="{128EBD73-46CB-03C2-F0CD-45D2692B8A03}"/>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0"/>
            <a:ext cx="1436370" cy="1629054"/>
          </a:xfrm>
          <a:prstGeom prst="rect">
            <a:avLst/>
          </a:prstGeom>
          <a:noFill/>
          <a:ln>
            <a:noFill/>
          </a:ln>
        </p:spPr>
      </p:pic>
    </p:spTree>
    <p:extLst>
      <p:ext uri="{BB962C8B-B14F-4D97-AF65-F5344CB8AC3E}">
        <p14:creationId xmlns:p14="http://schemas.microsoft.com/office/powerpoint/2010/main" val="2637840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21</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65228"/>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4CBDC567-9D23-C8ED-8B61-5A7602C0258E}"/>
              </a:ext>
            </a:extLst>
          </p:cNvPr>
          <p:cNvSpPr txBox="1"/>
          <p:nvPr/>
        </p:nvSpPr>
        <p:spPr>
          <a:xfrm>
            <a:off x="597822" y="486085"/>
            <a:ext cx="7827763" cy="523220"/>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4.Duration Gap Analysis</a:t>
            </a:r>
          </a:p>
        </p:txBody>
      </p:sp>
      <p:pic>
        <p:nvPicPr>
          <p:cNvPr id="6" name="Picture 5" descr="A screen shot of a computer screen&#10;&#10;AI-generated content may be incorrect.">
            <a:extLst>
              <a:ext uri="{FF2B5EF4-FFF2-40B4-BE49-F238E27FC236}">
                <a16:creationId xmlns:a16="http://schemas.microsoft.com/office/drawing/2014/main" id="{75FA698C-F6A3-2525-7F9B-2703DB61EC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592" y="1436808"/>
            <a:ext cx="9219854" cy="4500917"/>
          </a:xfrm>
          <a:prstGeom prst="rect">
            <a:avLst/>
          </a:prstGeom>
        </p:spPr>
      </p:pic>
    </p:spTree>
    <p:extLst>
      <p:ext uri="{BB962C8B-B14F-4D97-AF65-F5344CB8AC3E}">
        <p14:creationId xmlns:p14="http://schemas.microsoft.com/office/powerpoint/2010/main" val="2440401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22</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65228"/>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4CBDC567-9D23-C8ED-8B61-5A7602C0258E}"/>
              </a:ext>
            </a:extLst>
          </p:cNvPr>
          <p:cNvSpPr txBox="1"/>
          <p:nvPr/>
        </p:nvSpPr>
        <p:spPr>
          <a:xfrm>
            <a:off x="597822" y="486085"/>
            <a:ext cx="7827763" cy="523220"/>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5.Liability Maturity Spread</a:t>
            </a:r>
          </a:p>
        </p:txBody>
      </p:sp>
      <p:pic>
        <p:nvPicPr>
          <p:cNvPr id="8" name="Picture 7" descr="A screenshot of a graph&#10;&#10;AI-generated content may be incorrect.">
            <a:extLst>
              <a:ext uri="{FF2B5EF4-FFF2-40B4-BE49-F238E27FC236}">
                <a16:creationId xmlns:a16="http://schemas.microsoft.com/office/drawing/2014/main" id="{C731B5A9-2567-ACDF-DADE-81322E4774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822" y="1499613"/>
            <a:ext cx="9389302" cy="4638148"/>
          </a:xfrm>
          <a:prstGeom prst="rect">
            <a:avLst/>
          </a:prstGeom>
        </p:spPr>
      </p:pic>
    </p:spTree>
    <p:extLst>
      <p:ext uri="{BB962C8B-B14F-4D97-AF65-F5344CB8AC3E}">
        <p14:creationId xmlns:p14="http://schemas.microsoft.com/office/powerpoint/2010/main" val="2775496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9A534-D339-8E89-A6BF-3B13FA209D84}"/>
              </a:ext>
            </a:extLst>
          </p:cNvPr>
          <p:cNvSpPr>
            <a:spLocks noGrp="1"/>
          </p:cNvSpPr>
          <p:nvPr>
            <p:ph sz="half" idx="1"/>
          </p:nvPr>
        </p:nvSpPr>
        <p:spPr>
          <a:xfrm>
            <a:off x="838200" y="976393"/>
            <a:ext cx="5181600" cy="5200570"/>
          </a:xfrm>
        </p:spPr>
        <p:txBody>
          <a:bodyPr>
            <a:normAutofit/>
          </a:bodyPr>
          <a:lstStyle/>
          <a:p>
            <a:endParaRPr lang="en-IN" dirty="0"/>
          </a:p>
          <a:p>
            <a:pPr marL="0" indent="0">
              <a:buNone/>
            </a:pPr>
            <a:endParaRPr lang="en-IN" dirty="0"/>
          </a:p>
        </p:txBody>
      </p:sp>
      <p:sp>
        <p:nvSpPr>
          <p:cNvPr id="4" name="Footer Placeholder 3">
            <a:extLst>
              <a:ext uri="{FF2B5EF4-FFF2-40B4-BE49-F238E27FC236}">
                <a16:creationId xmlns:a16="http://schemas.microsoft.com/office/drawing/2014/main" id="{AD258B27-D715-A16A-0C3A-0B4CE3E2D452}"/>
              </a:ext>
            </a:extLst>
          </p:cNvPr>
          <p:cNvSpPr>
            <a:spLocks noGrp="1"/>
          </p:cNvSpPr>
          <p:nvPr>
            <p:ph type="ftr" sz="quarter" idx="11"/>
          </p:nvPr>
        </p:nvSpPr>
        <p:spPr>
          <a:xfrm>
            <a:off x="4038600" y="6356350"/>
            <a:ext cx="4114800" cy="365125"/>
          </a:xfrm>
        </p:spPr>
        <p:txBody>
          <a:bodyPr anchor="ctr">
            <a:normAutofit/>
          </a:bodyPr>
          <a:lstStyle/>
          <a:p>
            <a:pPr>
              <a:lnSpc>
                <a:spcPct val="90000"/>
              </a:lnSpc>
              <a:spcAft>
                <a:spcPts val="600"/>
              </a:spcAft>
            </a:pPr>
            <a:r>
              <a:rPr lang="en-US" sz="90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A1B35A1B-2B3D-6506-F739-5BB23C7D88D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345D60D9-5372-5F40-9443-0F9AE5BDC3C8}" type="slidenum">
              <a:rPr lang="en-US" smtClean="0"/>
              <a:pPr>
                <a:spcAft>
                  <a:spcPts val="600"/>
                </a:spcAft>
              </a:pPr>
              <a:t>23</a:t>
            </a:fld>
            <a:endParaRPr lang="en-US"/>
          </a:p>
        </p:txBody>
      </p:sp>
      <p:pic>
        <p:nvPicPr>
          <p:cNvPr id="10" name="Picture 9">
            <a:extLst>
              <a:ext uri="{FF2B5EF4-FFF2-40B4-BE49-F238E27FC236}">
                <a16:creationId xmlns:a16="http://schemas.microsoft.com/office/drawing/2014/main" id="{A9BCEA6B-04DC-C513-D337-199C0F8D10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65228"/>
            <a:ext cx="2233010" cy="560390"/>
          </a:xfrm>
          <a:prstGeom prst="rect">
            <a:avLst/>
          </a:prstGeom>
        </p:spPr>
      </p:pic>
      <p:pic>
        <p:nvPicPr>
          <p:cNvPr id="12" name="Picture 11" descr="Image">
            <a:extLst>
              <a:ext uri="{FF2B5EF4-FFF2-40B4-BE49-F238E27FC236}">
                <a16:creationId xmlns:a16="http://schemas.microsoft.com/office/drawing/2014/main" id="{29F2403C-BC7B-56B3-B783-299324EFE885}"/>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
        <p:nvSpPr>
          <p:cNvPr id="7" name="TextBox 6">
            <a:extLst>
              <a:ext uri="{FF2B5EF4-FFF2-40B4-BE49-F238E27FC236}">
                <a16:creationId xmlns:a16="http://schemas.microsoft.com/office/drawing/2014/main" id="{4CBDC567-9D23-C8ED-8B61-5A7602C0258E}"/>
              </a:ext>
            </a:extLst>
          </p:cNvPr>
          <p:cNvSpPr txBox="1"/>
          <p:nvPr/>
        </p:nvSpPr>
        <p:spPr>
          <a:xfrm>
            <a:off x="597822" y="458629"/>
            <a:ext cx="7827763" cy="523220"/>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6.Value At Risk Over Time</a:t>
            </a:r>
          </a:p>
        </p:txBody>
      </p:sp>
      <p:pic>
        <p:nvPicPr>
          <p:cNvPr id="6" name="Picture 5" descr="A graph with lines and numbers&#10;&#10;AI-generated content may be incorrect.">
            <a:extLst>
              <a:ext uri="{FF2B5EF4-FFF2-40B4-BE49-F238E27FC236}">
                <a16:creationId xmlns:a16="http://schemas.microsoft.com/office/drawing/2014/main" id="{9075048B-62CB-B3AC-3BF5-1A883BB9BA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822" y="1499613"/>
            <a:ext cx="9396027" cy="4707842"/>
          </a:xfrm>
          <a:prstGeom prst="rect">
            <a:avLst/>
          </a:prstGeom>
        </p:spPr>
      </p:pic>
    </p:spTree>
    <p:extLst>
      <p:ext uri="{BB962C8B-B14F-4D97-AF65-F5344CB8AC3E}">
        <p14:creationId xmlns:p14="http://schemas.microsoft.com/office/powerpoint/2010/main" val="2724413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990EB-F0FD-6AA6-E1B4-23C5E424FBA0}"/>
              </a:ext>
            </a:extLst>
          </p:cNvPr>
          <p:cNvSpPr>
            <a:spLocks noGrp="1"/>
          </p:cNvSpPr>
          <p:nvPr>
            <p:ph type="title"/>
          </p:nvPr>
        </p:nvSpPr>
        <p:spPr>
          <a:xfrm>
            <a:off x="465338" y="229422"/>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Challenges Faced</a:t>
            </a:r>
          </a:p>
        </p:txBody>
      </p:sp>
      <p:sp>
        <p:nvSpPr>
          <p:cNvPr id="3" name="Content Placeholder 2">
            <a:extLst>
              <a:ext uri="{FF2B5EF4-FFF2-40B4-BE49-F238E27FC236}">
                <a16:creationId xmlns:a16="http://schemas.microsoft.com/office/drawing/2014/main" id="{15A535A0-644D-EF7D-1FE3-46EB4EB87126}"/>
              </a:ext>
            </a:extLst>
          </p:cNvPr>
          <p:cNvSpPr>
            <a:spLocks noGrp="1"/>
          </p:cNvSpPr>
          <p:nvPr>
            <p:ph idx="1"/>
          </p:nvPr>
        </p:nvSpPr>
        <p:spPr>
          <a:xfrm>
            <a:off x="465338" y="1331652"/>
            <a:ext cx="11049000" cy="4634144"/>
          </a:xfrm>
        </p:spPr>
        <p:txBody>
          <a:bodyPr>
            <a:normAutofit fontScale="92500"/>
          </a:bodyPr>
          <a:lstStyle/>
          <a:p>
            <a:pPr marL="0" indent="0" eaLnBrk="0" fontAlgn="base" hangingPunct="0">
              <a:lnSpc>
                <a:spcPct val="100000"/>
              </a:lnSpc>
              <a:spcBef>
                <a:spcPct val="0"/>
              </a:spcBef>
              <a:spcAft>
                <a:spcPct val="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Backend Logic Design</a:t>
            </a:r>
            <a:b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Implementing financial calculations like Duration Gap, NIM, and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VaR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required precise formulas and domain understanding.</a:t>
            </a:r>
          </a:p>
          <a:p>
            <a:pPr marL="0" indent="0" eaLnBrk="0" fontAlgn="base" hangingPunct="0">
              <a:lnSpc>
                <a:spcPct val="100000"/>
              </a:lnSpc>
              <a:spcBef>
                <a:spcPct val="0"/>
              </a:spcBef>
              <a:spcAft>
                <a:spcPct val="0"/>
              </a:spcAft>
              <a:buNone/>
            </a:pP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DTO Structuring</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Some services returned plain text initially; refactoring was needed for clean JSON responses compatible with the frontend.</a:t>
            </a:r>
          </a:p>
          <a:p>
            <a:pPr marL="0" indent="0" eaLnBrk="0" fontAlgn="base" hangingPunct="0">
              <a:lnSpc>
                <a:spcPct val="100000"/>
              </a:lnSpc>
              <a:spcBef>
                <a:spcPct val="0"/>
              </a:spcBef>
              <a:spcAft>
                <a:spcPct val="0"/>
              </a:spcAft>
              <a:buNone/>
            </a:pP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Data Grouping &amp; Bucketing</a:t>
            </a:r>
            <a:b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Creating dynamic maturity buckets for liabilities and assets involved handling edge cases like missing or null dates.</a:t>
            </a:r>
          </a:p>
          <a:p>
            <a:pPr marL="0" indent="0" eaLnBrk="0" fontAlgn="base" hangingPunct="0">
              <a:lnSpc>
                <a:spcPct val="100000"/>
              </a:lnSpc>
              <a:spcBef>
                <a:spcPct val="0"/>
              </a:spcBef>
              <a:spcAft>
                <a:spcPct val="0"/>
              </a:spcAft>
              <a:buNone/>
            </a:pP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API Consistency</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Maintaining uniform endpoint formats across diverse metrics (charts vs single stats) was essential but tricky.</a:t>
            </a:r>
          </a:p>
          <a:p>
            <a:pPr marL="0" indent="0" eaLnBrk="0" fontAlgn="base" hangingPunct="0">
              <a:lnSpc>
                <a:spcPct val="100000"/>
              </a:lnSpc>
              <a:spcBef>
                <a:spcPct val="0"/>
              </a:spcBef>
              <a:spcAft>
                <a:spcPct val="0"/>
              </a:spcAft>
              <a:buNone/>
            </a:pP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Frontend Bindings</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Observables failed due to improper field access or missing bindings, especially for composite JSON fields.</a:t>
            </a:r>
          </a:p>
          <a:p>
            <a:pPr marL="0" indent="0" eaLnBrk="0" fontAlgn="base" hangingPunct="0">
              <a:lnSpc>
                <a:spcPct val="100000"/>
              </a:lnSpc>
              <a:spcBef>
                <a:spcPct val="0"/>
              </a:spcBef>
              <a:spcAft>
                <a:spcPct val="0"/>
              </a:spcAft>
              <a:buNone/>
            </a:pP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Navigation and Routing</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Tile link routing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oj</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 format) didn't match navbar paths initially, requiring consistent router handling.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IN"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1274737-ABE6-2BF6-7963-CB32CD17C0CA}"/>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8D15C07F-BB7C-C631-B6B5-05EB556192EE}"/>
              </a:ext>
            </a:extLst>
          </p:cNvPr>
          <p:cNvSpPr>
            <a:spLocks noGrp="1"/>
          </p:cNvSpPr>
          <p:nvPr>
            <p:ph type="sldNum" sz="quarter" idx="12"/>
          </p:nvPr>
        </p:nvSpPr>
        <p:spPr/>
        <p:txBody>
          <a:bodyPr/>
          <a:lstStyle/>
          <a:p>
            <a:fld id="{345D60D9-5372-5F40-9443-0F9AE5BDC3C8}" type="slidenum">
              <a:rPr lang="en-US" smtClean="0"/>
              <a:pPr/>
              <a:t>24</a:t>
            </a:fld>
            <a:endParaRPr lang="en-US" dirty="0"/>
          </a:p>
        </p:txBody>
      </p:sp>
      <p:pic>
        <p:nvPicPr>
          <p:cNvPr id="6" name="Picture 5">
            <a:extLst>
              <a:ext uri="{FF2B5EF4-FFF2-40B4-BE49-F238E27FC236}">
                <a16:creationId xmlns:a16="http://schemas.microsoft.com/office/drawing/2014/main" id="{BA648C17-207F-8C11-E67E-671E3CE316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pic>
        <p:nvPicPr>
          <p:cNvPr id="7" name="Picture 6" descr="Image">
            <a:extLst>
              <a:ext uri="{FF2B5EF4-FFF2-40B4-BE49-F238E27FC236}">
                <a16:creationId xmlns:a16="http://schemas.microsoft.com/office/drawing/2014/main" id="{44EF6F40-E4C7-B5F7-A981-0DF62AA42326}"/>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324121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8F58-70DF-0752-E35A-7E9962C3E2A1}"/>
              </a:ext>
            </a:extLst>
          </p:cNvPr>
          <p:cNvSpPr>
            <a:spLocks noGrp="1"/>
          </p:cNvSpPr>
          <p:nvPr>
            <p:ph type="title"/>
          </p:nvPr>
        </p:nvSpPr>
        <p:spPr>
          <a:xfrm>
            <a:off x="651769" y="136525"/>
            <a:ext cx="10515600" cy="1325563"/>
          </a:xfrm>
        </p:spPr>
        <p:txBody>
          <a:bodyPr>
            <a:normAutofit/>
          </a:bodyPr>
          <a:lstStyle/>
          <a:p>
            <a:r>
              <a:rPr lang="en-IN" sz="4000" b="1" u="sng" dirty="0">
                <a:latin typeface="Times New Roman" panose="02020603050405020304" pitchFamily="18" charset="0"/>
                <a:cs typeface="Times New Roman" panose="02020603050405020304" pitchFamily="18" charset="0"/>
              </a:rPr>
              <a:t>Key Learnings</a:t>
            </a:r>
          </a:p>
        </p:txBody>
      </p:sp>
      <p:sp>
        <p:nvSpPr>
          <p:cNvPr id="3" name="Content Placeholder 2">
            <a:extLst>
              <a:ext uri="{FF2B5EF4-FFF2-40B4-BE49-F238E27FC236}">
                <a16:creationId xmlns:a16="http://schemas.microsoft.com/office/drawing/2014/main" id="{CF3F56F8-9636-1018-3D69-DC0EA788F670}"/>
              </a:ext>
            </a:extLst>
          </p:cNvPr>
          <p:cNvSpPr>
            <a:spLocks noGrp="1"/>
          </p:cNvSpPr>
          <p:nvPr>
            <p:ph idx="1"/>
          </p:nvPr>
        </p:nvSpPr>
        <p:spPr>
          <a:xfrm>
            <a:off x="838200" y="1482571"/>
            <a:ext cx="10515600" cy="4694392"/>
          </a:xfrm>
        </p:spPr>
        <p:txBody>
          <a:bodyPr>
            <a:noAutofit/>
          </a:bodyPr>
          <a:lstStyle/>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Full-Stack Integration</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Learned to seamlessly connect Spring Boot backend services with Oracle JET frontend components via REST APIs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Debugging and Iteration</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Strengthened problem-solving through endpoint testing, browser console analysis, and iterative UI refinement.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Dynamic Binding with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KnockoutJS</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Gained confidence using observables to dynamically update UI with real-time or fetched backend data.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Modular Architecture</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Built clean separation of concerns using DTOs, Services, Repositories, and Controllers for scalable development.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User-Centric Design Thinking</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Designed dashboards with both functionality and readability in mind — focusing on clarity before polish.</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Data Visualization</a:t>
            </a:r>
            <a:r>
              <a:rPr lang="en-IN" sz="1800" b="1"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Utilized Data Visualization Techniques using Oracle JET charts effectively to represent financial metrics providing useful insights.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p>
        </p:txBody>
      </p:sp>
      <p:sp>
        <p:nvSpPr>
          <p:cNvPr id="4" name="Footer Placeholder 3">
            <a:extLst>
              <a:ext uri="{FF2B5EF4-FFF2-40B4-BE49-F238E27FC236}">
                <a16:creationId xmlns:a16="http://schemas.microsoft.com/office/drawing/2014/main" id="{9663849C-5DBB-D5A0-24AB-89837E7D3F7E}"/>
              </a:ext>
            </a:extLst>
          </p:cNvPr>
          <p:cNvSpPr>
            <a:spLocks noGrp="1"/>
          </p:cNvSpPr>
          <p:nvPr>
            <p:ph type="ftr" sz="quarter" idx="11"/>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AC5D5397-4D60-14E5-443C-8CFF637BCDCE}"/>
              </a:ext>
            </a:extLst>
          </p:cNvPr>
          <p:cNvSpPr>
            <a:spLocks noGrp="1"/>
          </p:cNvSpPr>
          <p:nvPr>
            <p:ph type="sldNum" sz="quarter" idx="12"/>
          </p:nvPr>
        </p:nvSpPr>
        <p:spPr/>
        <p:txBody>
          <a:bodyPr/>
          <a:lstStyle/>
          <a:p>
            <a:fld id="{345D60D9-5372-5F40-9443-0F9AE5BDC3C8}" type="slidenum">
              <a:rPr lang="en-US" smtClean="0"/>
              <a:pPr/>
              <a:t>25</a:t>
            </a:fld>
            <a:endParaRPr lang="en-US" dirty="0"/>
          </a:p>
        </p:txBody>
      </p:sp>
      <p:pic>
        <p:nvPicPr>
          <p:cNvPr id="6" name="Picture 5">
            <a:extLst>
              <a:ext uri="{FF2B5EF4-FFF2-40B4-BE49-F238E27FC236}">
                <a16:creationId xmlns:a16="http://schemas.microsoft.com/office/drawing/2014/main" id="{DFEB8724-8CEC-B805-5A6E-888731873F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pic>
        <p:nvPicPr>
          <p:cNvPr id="7" name="Picture 6" descr="Image">
            <a:extLst>
              <a:ext uri="{FF2B5EF4-FFF2-40B4-BE49-F238E27FC236}">
                <a16:creationId xmlns:a16="http://schemas.microsoft.com/office/drawing/2014/main" id="{5E0C55CB-10F5-3DF8-F608-0C35DE5590E1}"/>
              </a:ext>
            </a:extLst>
          </p:cNvPr>
          <p:cNvPicPr>
            <a:picLocks noChangeAspect="1"/>
          </p:cNvPicPr>
          <p:nvPr/>
        </p:nvPicPr>
        <p:blipFill>
          <a:blip r:link="rId3">
            <a:extLst>
              <a:ext uri="{28A0092B-C50C-407E-A947-70E740481C1C}">
                <a14:useLocalDpi xmlns:a14="http://schemas.microsoft.com/office/drawing/2010/main" val="0"/>
              </a:ext>
            </a:extLst>
          </a:blip>
          <a:srcRect/>
          <a:stretch>
            <a:fillRect/>
          </a:stretch>
        </p:blipFill>
        <p:spPr bwMode="auto">
          <a:xfrm>
            <a:off x="10405241" y="-8878"/>
            <a:ext cx="1436370" cy="1629054"/>
          </a:xfrm>
          <a:prstGeom prst="rect">
            <a:avLst/>
          </a:prstGeom>
          <a:noFill/>
          <a:ln>
            <a:noFill/>
          </a:ln>
        </p:spPr>
      </p:pic>
    </p:spTree>
    <p:extLst>
      <p:ext uri="{BB962C8B-B14F-4D97-AF65-F5344CB8AC3E}">
        <p14:creationId xmlns:p14="http://schemas.microsoft.com/office/powerpoint/2010/main" val="381291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A40258-09C3-DE4F-2BD5-8AF6A0B1B466}"/>
              </a:ext>
            </a:extLst>
          </p:cNvPr>
          <p:cNvSpPr>
            <a:spLocks noGrp="1"/>
          </p:cNvSpPr>
          <p:nvPr>
            <p:ph type="body" sz="quarter" idx="43"/>
          </p:nvPr>
        </p:nvSpPr>
        <p:spPr/>
        <p:txBody>
          <a:bodyPr/>
          <a:lstStyle/>
          <a:p>
            <a:endParaRPr lang="en-IN" dirty="0"/>
          </a:p>
        </p:txBody>
      </p:sp>
      <p:sp>
        <p:nvSpPr>
          <p:cNvPr id="3" name="Title 2">
            <a:extLst>
              <a:ext uri="{FF2B5EF4-FFF2-40B4-BE49-F238E27FC236}">
                <a16:creationId xmlns:a16="http://schemas.microsoft.com/office/drawing/2014/main" id="{29D3FAAE-51AE-FA1F-0D62-F3F67FB6276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F978E656-C7DA-5166-D859-62FFD8B07FDF}"/>
              </a:ext>
            </a:extLst>
          </p:cNvPr>
          <p:cNvSpPr>
            <a:spLocks noGrp="1"/>
          </p:cNvSpPr>
          <p:nvPr>
            <p:ph type="ftr" sz="quarter" idx="46"/>
          </p:nvPr>
        </p:nvSpPr>
        <p:spPr/>
        <p:txBody>
          <a:body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313A573B-0109-5E69-D86D-BF0D9ACB856E}"/>
              </a:ext>
            </a:extLst>
          </p:cNvPr>
          <p:cNvSpPr>
            <a:spLocks noGrp="1"/>
          </p:cNvSpPr>
          <p:nvPr>
            <p:ph type="sldNum" sz="quarter" idx="47"/>
          </p:nvPr>
        </p:nvSpPr>
        <p:spPr/>
        <p:txBody>
          <a:bodyPr/>
          <a:lstStyle/>
          <a:p>
            <a:fld id="{345D60D9-5372-5F40-9443-0F9AE5BDC3C8}" type="slidenum">
              <a:rPr lang="en-US" smtClean="0"/>
              <a:pPr/>
              <a:t>26</a:t>
            </a:fld>
            <a:endParaRPr lang="en-US" dirty="0"/>
          </a:p>
        </p:txBody>
      </p:sp>
      <p:sp>
        <p:nvSpPr>
          <p:cNvPr id="6" name="Text Placeholder 5">
            <a:extLst>
              <a:ext uri="{FF2B5EF4-FFF2-40B4-BE49-F238E27FC236}">
                <a16:creationId xmlns:a16="http://schemas.microsoft.com/office/drawing/2014/main" id="{C2F53E19-349B-0234-A960-6A07D440D343}"/>
              </a:ext>
            </a:extLst>
          </p:cNvPr>
          <p:cNvSpPr>
            <a:spLocks noGrp="1"/>
          </p:cNvSpPr>
          <p:nvPr>
            <p:ph type="body" sz="quarter" idx="48"/>
          </p:nvPr>
        </p:nvSpPr>
        <p:spPr/>
        <p:txBody>
          <a:bodyPr/>
          <a:lstStyle/>
          <a:p>
            <a:endParaRPr lang="en-IN"/>
          </a:p>
        </p:txBody>
      </p:sp>
      <p:grpSp>
        <p:nvGrpSpPr>
          <p:cNvPr id="7" name="Group 6">
            <a:extLst>
              <a:ext uri="{FF2B5EF4-FFF2-40B4-BE49-F238E27FC236}">
                <a16:creationId xmlns:a16="http://schemas.microsoft.com/office/drawing/2014/main" id="{761C0A76-C56F-AC15-4AE8-FEFE50F3BEB9}"/>
              </a:ext>
            </a:extLst>
          </p:cNvPr>
          <p:cNvGrpSpPr>
            <a:grpSpLocks/>
          </p:cNvGrpSpPr>
          <p:nvPr/>
        </p:nvGrpSpPr>
        <p:grpSpPr>
          <a:xfrm>
            <a:off x="405173" y="-102275"/>
            <a:ext cx="12192000" cy="6858000"/>
            <a:chOff x="268986" y="126525"/>
            <a:chExt cx="12192000" cy="6858000"/>
          </a:xfrm>
        </p:grpSpPr>
        <p:pic>
          <p:nvPicPr>
            <p:cNvPr id="8" name="Image 144">
              <a:extLst>
                <a:ext uri="{FF2B5EF4-FFF2-40B4-BE49-F238E27FC236}">
                  <a16:creationId xmlns:a16="http://schemas.microsoft.com/office/drawing/2014/main" id="{A340E90F-313C-D785-4750-1F98F88F9DEE}"/>
                </a:ext>
              </a:extLst>
            </p:cNvPr>
            <p:cNvPicPr/>
            <p:nvPr/>
          </p:nvPicPr>
          <p:blipFill>
            <a:blip r:embed="rId3" cstate="print"/>
            <a:stretch>
              <a:fillRect/>
            </a:stretch>
          </p:blipFill>
          <p:spPr>
            <a:xfrm>
              <a:off x="268986" y="126525"/>
              <a:ext cx="12192000" cy="6858000"/>
            </a:xfrm>
            <a:prstGeom prst="rect">
              <a:avLst/>
            </a:prstGeom>
          </p:spPr>
        </p:pic>
        <p:sp>
          <p:nvSpPr>
            <p:cNvPr id="9" name="Graphic 145">
              <a:extLst>
                <a:ext uri="{FF2B5EF4-FFF2-40B4-BE49-F238E27FC236}">
                  <a16:creationId xmlns:a16="http://schemas.microsoft.com/office/drawing/2014/main" id="{BAAE8B51-5794-61FD-8DEA-5921E60EFE97}"/>
                </a:ext>
              </a:extLst>
            </p:cNvPr>
            <p:cNvSpPr/>
            <p:nvPr/>
          </p:nvSpPr>
          <p:spPr>
            <a:xfrm>
              <a:off x="11401425" y="6465994"/>
              <a:ext cx="401955" cy="391795"/>
            </a:xfrm>
            <a:custGeom>
              <a:avLst/>
              <a:gdLst/>
              <a:ahLst/>
              <a:cxnLst/>
              <a:rect l="l" t="t" r="r" b="b"/>
              <a:pathLst>
                <a:path w="401955" h="391795">
                  <a:moveTo>
                    <a:pt x="401583" y="0"/>
                  </a:moveTo>
                  <a:lnTo>
                    <a:pt x="0" y="0"/>
                  </a:lnTo>
                  <a:lnTo>
                    <a:pt x="0" y="391594"/>
                  </a:lnTo>
                  <a:lnTo>
                    <a:pt x="401583" y="391594"/>
                  </a:lnTo>
                  <a:lnTo>
                    <a:pt x="401583" y="0"/>
                  </a:lnTo>
                  <a:close/>
                </a:path>
              </a:pathLst>
            </a:custGeom>
            <a:solidFill>
              <a:srgbClr val="C7352F"/>
            </a:solidFill>
          </p:spPr>
          <p:txBody>
            <a:bodyPr wrap="square" lIns="0" tIns="0" rIns="0" bIns="0" rtlCol="0">
              <a:prstTxWarp prst="textNoShape">
                <a:avLst/>
              </a:prstTxWarp>
              <a:noAutofit/>
            </a:bodyPr>
            <a:lstStyle/>
            <a:p>
              <a:endParaRPr lang="en-IN"/>
            </a:p>
          </p:txBody>
        </p:sp>
        <p:pic>
          <p:nvPicPr>
            <p:cNvPr id="10" name="Image 146">
              <a:extLst>
                <a:ext uri="{FF2B5EF4-FFF2-40B4-BE49-F238E27FC236}">
                  <a16:creationId xmlns:a16="http://schemas.microsoft.com/office/drawing/2014/main" id="{16CC818C-ADE6-D9ED-8673-DAD73F116C3B}"/>
                </a:ext>
              </a:extLst>
            </p:cNvPr>
            <p:cNvPicPr/>
            <p:nvPr/>
          </p:nvPicPr>
          <p:blipFill>
            <a:blip r:embed="rId4" cstate="print"/>
            <a:stretch>
              <a:fillRect/>
            </a:stretch>
          </p:blipFill>
          <p:spPr>
            <a:xfrm>
              <a:off x="11489882" y="6591617"/>
              <a:ext cx="224668" cy="139858"/>
            </a:xfrm>
            <a:prstGeom prst="rect">
              <a:avLst/>
            </a:prstGeom>
          </p:spPr>
        </p:pic>
      </p:grpSp>
      <p:sp>
        <p:nvSpPr>
          <p:cNvPr id="12" name="TextBox 11">
            <a:extLst>
              <a:ext uri="{FF2B5EF4-FFF2-40B4-BE49-F238E27FC236}">
                <a16:creationId xmlns:a16="http://schemas.microsoft.com/office/drawing/2014/main" id="{B4218221-696D-1189-919C-A6AA0147BBD3}"/>
              </a:ext>
            </a:extLst>
          </p:cNvPr>
          <p:cNvSpPr txBox="1"/>
          <p:nvPr/>
        </p:nvSpPr>
        <p:spPr>
          <a:xfrm>
            <a:off x="1945531" y="272810"/>
            <a:ext cx="9905205" cy="4852803"/>
          </a:xfrm>
          <a:prstGeom prst="rect">
            <a:avLst/>
          </a:prstGeom>
          <a:noFill/>
        </p:spPr>
        <p:txBody>
          <a:bodyPr wrap="square">
            <a:spAutoFit/>
          </a:bodyPr>
          <a:lstStyle/>
          <a:p>
            <a:pPr marL="680085" marR="5159375">
              <a:lnSpc>
                <a:spcPct val="196000"/>
              </a:lnSpc>
              <a:spcAft>
                <a:spcPts val="0"/>
              </a:spcAft>
            </a:pPr>
            <a:endParaRPr lang="en-US" sz="2300" b="1" dirty="0">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endParaRPr lang="en-US" sz="2300" b="1" dirty="0">
              <a:solidFill>
                <a:srgbClr val="2A2E2E"/>
              </a:solidFill>
              <a:latin typeface="Calibri" panose="020F0502020204030204" pitchFamily="34" charset="0"/>
              <a:ea typeface="Calibri" panose="020F0502020204030204" pitchFamily="34" charset="0"/>
            </a:endParaRPr>
          </a:p>
          <a:p>
            <a:pPr marL="680085" marR="5159375">
              <a:lnSpc>
                <a:spcPct val="196000"/>
              </a:lnSpc>
              <a:spcAft>
                <a:spcPts val="0"/>
              </a:spcAft>
            </a:pPr>
            <a:endParaRPr lang="en-US" sz="2300" b="1" dirty="0">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endParaRPr lang="en-US" sz="2300" b="1" dirty="0">
              <a:solidFill>
                <a:srgbClr val="2A2E2E"/>
              </a:solidFill>
              <a:latin typeface="Calibri" panose="020F0502020204030204" pitchFamily="34" charset="0"/>
              <a:ea typeface="Calibri" panose="020F0502020204030204" pitchFamily="34" charset="0"/>
            </a:endParaRPr>
          </a:p>
          <a:p>
            <a:pPr marL="680085" marR="5159375">
              <a:lnSpc>
                <a:spcPct val="196000"/>
              </a:lnSpc>
              <a:spcAft>
                <a:spcPts val="0"/>
              </a:spcAft>
            </a:pPr>
            <a:endParaRPr lang="en-US" sz="2300" b="1" dirty="0">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r>
              <a:rPr lang="en-US" sz="2300" b="1" dirty="0">
                <a:solidFill>
                  <a:srgbClr val="2A2E2E"/>
                </a:solidFill>
                <a:effectLst/>
                <a:latin typeface="Calibri" panose="020F0502020204030204" pitchFamily="34" charset="0"/>
                <a:ea typeface="Calibri" panose="020F0502020204030204" pitchFamily="34" charset="0"/>
              </a:rPr>
              <a:t>Thank you! </a:t>
            </a:r>
            <a:r>
              <a:rPr lang="en-US" sz="2300" b="1" spc="-20" dirty="0">
                <a:solidFill>
                  <a:srgbClr val="2A2E2E"/>
                </a:solidFill>
                <a:effectLst/>
                <a:latin typeface="Calibri" panose="020F0502020204030204" pitchFamily="34" charset="0"/>
                <a:ea typeface="Calibri" panose="020F0502020204030204" pitchFamily="34" charset="0"/>
              </a:rPr>
              <a:t>Questions/comments</a:t>
            </a:r>
            <a:endParaRPr lang="en-IN" sz="2300" dirty="0">
              <a:effectLst/>
              <a:latin typeface="Calibri" panose="020F0502020204030204" pitchFamily="34" charset="0"/>
              <a:ea typeface="Calibri" panose="020F0502020204030204" pitchFamily="34" charset="0"/>
            </a:endParaRPr>
          </a:p>
        </p:txBody>
      </p:sp>
      <p:pic>
        <p:nvPicPr>
          <p:cNvPr id="11" name="Picture 10">
            <a:extLst>
              <a:ext uri="{FF2B5EF4-FFF2-40B4-BE49-F238E27FC236}">
                <a16:creationId xmlns:a16="http://schemas.microsoft.com/office/drawing/2014/main" id="{874561B3-3134-7F5D-A173-1790AD8308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184" y="6356350"/>
            <a:ext cx="2233010" cy="560390"/>
          </a:xfrm>
          <a:prstGeom prst="rect">
            <a:avLst/>
          </a:prstGeom>
        </p:spPr>
      </p:pic>
    </p:spTree>
    <p:extLst>
      <p:ext uri="{BB962C8B-B14F-4D97-AF65-F5344CB8AC3E}">
        <p14:creationId xmlns:p14="http://schemas.microsoft.com/office/powerpoint/2010/main" val="2960996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20390</TotalTime>
  <Words>1536</Words>
  <Application>Microsoft Office PowerPoint</Application>
  <PresentationFormat>Widescreen</PresentationFormat>
  <Paragraphs>225</Paragraphs>
  <Slides>26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Georgia</vt:lpstr>
      <vt:lpstr>Oracle Sans</vt:lpstr>
      <vt:lpstr>Times New Roman</vt:lpstr>
      <vt:lpstr>Office Theme</vt:lpstr>
      <vt:lpstr>ASSET LIABILITY MANAGEMENT SYSTEM</vt:lpstr>
      <vt:lpstr> </vt:lpstr>
      <vt:lpstr> </vt:lpstr>
      <vt:lpstr> </vt:lpstr>
      <vt:lpstr>Tools &amp; Technologies</vt:lpstr>
      <vt:lpstr>ALM Service Components </vt:lpstr>
      <vt:lpstr>PowerPoint Presentation</vt:lpstr>
      <vt:lpstr>System Architecture</vt:lpstr>
      <vt:lpstr>Implementation Details</vt:lpstr>
      <vt:lpstr>PowerPoint Presentation</vt:lpstr>
      <vt:lpstr>Code Snippets (BACKEND)</vt:lpstr>
      <vt:lpstr>PowerPoint Presentation</vt:lpstr>
      <vt:lpstr>Code Snippets (FRONTEND)</vt:lpstr>
      <vt:lpstr>Service Discovery using Eureka Server</vt:lpstr>
      <vt:lpstr>PowerPoint Presentation</vt:lpstr>
      <vt:lpstr>PMD &amp; SPOTBUG REPORT:</vt:lpstr>
      <vt:lpstr>JAVADOC &amp; CHECKSTYLE REPORT:</vt:lpstr>
      <vt:lpstr>PowerPoint Presentation</vt:lpstr>
      <vt:lpstr>PowerPoint Presentation</vt:lpstr>
      <vt:lpstr>PowerPoint Presentation</vt:lpstr>
      <vt:lpstr>PowerPoint Presentation</vt:lpstr>
      <vt:lpstr>PowerPoint Presentation</vt:lpstr>
      <vt:lpstr>PowerPoint Presentation</vt:lpstr>
      <vt:lpstr>Challenges Faced</vt:lpstr>
      <vt:lpstr>Key Learnings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does this new template look so different?</dc:title>
  <dc:creator>Subhas Budala</dc:creator>
  <cp:lastModifiedBy>Sabbir Poonawala</cp:lastModifiedBy>
  <cp:revision>678</cp:revision>
  <dcterms:created xsi:type="dcterms:W3CDTF">2020-02-11T01:31:00Z</dcterms:created>
  <dcterms:modified xsi:type="dcterms:W3CDTF">2025-07-25T07:14:08Z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4de43ec-192a-49eb-8e54-baeb8c71bbbe_Enabled">
    <vt:lpwstr>true</vt:lpwstr>
  </property>
  <property fmtid="{D5CDD505-2E9C-101B-9397-08002B2CF9AE}" pid="3" name="MSIP_Label_a4de43ec-192a-49eb-8e54-baeb8c71bbbe_SetDate">
    <vt:lpwstr>2025-07-23T11:27:33Z</vt:lpwstr>
  </property>
  <property fmtid="{D5CDD505-2E9C-101B-9397-08002B2CF9AE}" pid="4" name="MSIP_Label_a4de43ec-192a-49eb-8e54-baeb8c71bbbe_Method">
    <vt:lpwstr>Standard</vt:lpwstr>
  </property>
  <property fmtid="{D5CDD505-2E9C-101B-9397-08002B2CF9AE}" pid="5" name="MSIP_Label_a4de43ec-192a-49eb-8e54-baeb8c71bbbe_Name">
    <vt:lpwstr>Confidential – Oracle Internal</vt:lpwstr>
  </property>
  <property fmtid="{D5CDD505-2E9C-101B-9397-08002B2CF9AE}" pid="6" name="MSIP_Label_a4de43ec-192a-49eb-8e54-baeb8c71bbbe_SiteId">
    <vt:lpwstr>4e2c6054-71cb-48f1-bd6c-3a9705aca71b</vt:lpwstr>
  </property>
  <property fmtid="{D5CDD505-2E9C-101B-9397-08002B2CF9AE}" pid="7" name="MSIP_Label_a4de43ec-192a-49eb-8e54-baeb8c71bbbe_ActionId">
    <vt:lpwstr>31330437-f6ee-4a9e-8d08-f5e4a7e069b9</vt:lpwstr>
  </property>
  <property fmtid="{D5CDD505-2E9C-101B-9397-08002B2CF9AE}" pid="8" name="MSIP_Label_a4de43ec-192a-49eb-8e54-baeb8c71bbbe_ContentBits">
    <vt:lpwstr>2</vt:lpwstr>
  </property>
  <property fmtid="{D5CDD505-2E9C-101B-9397-08002B2CF9AE}" pid="9" name="ClassificationContentMarkingFooterLocations">
    <vt:lpwstr>Office Theme:9</vt:lpwstr>
  </property>
  <property fmtid="{D5CDD505-2E9C-101B-9397-08002B2CF9AE}" pid="10" name="ClassificationContentMarkingFooterText">
    <vt:lpwstr>Confidential – Oracle Internal</vt:lpwstr>
  </property>
</Properties>
</file>